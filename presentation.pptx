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notesMasterIdLst>
    <p:notesMasterId r:id="rId29"/>
  </p:notesMasterIdLst>
  <p:sldIdLst>
    <p:sldId id="256" r:id="rId2"/>
    <p:sldId id="268" r:id="rId3"/>
    <p:sldId id="287" r:id="rId4"/>
    <p:sldId id="269" r:id="rId5"/>
    <p:sldId id="270" r:id="rId6"/>
    <p:sldId id="272" r:id="rId7"/>
    <p:sldId id="258" r:id="rId8"/>
    <p:sldId id="283" r:id="rId9"/>
    <p:sldId id="262" r:id="rId10"/>
    <p:sldId id="284" r:id="rId11"/>
    <p:sldId id="285" r:id="rId12"/>
    <p:sldId id="261" r:id="rId13"/>
    <p:sldId id="281" r:id="rId14"/>
    <p:sldId id="276" r:id="rId15"/>
    <p:sldId id="288" r:id="rId16"/>
    <p:sldId id="275" r:id="rId17"/>
    <p:sldId id="286" r:id="rId18"/>
    <p:sldId id="265" r:id="rId19"/>
    <p:sldId id="266" r:id="rId20"/>
    <p:sldId id="278" r:id="rId21"/>
    <p:sldId id="264" r:id="rId22"/>
    <p:sldId id="259" r:id="rId23"/>
    <p:sldId id="260" r:id="rId24"/>
    <p:sldId id="263" r:id="rId25"/>
    <p:sldId id="271" r:id="rId26"/>
    <p:sldId id="277"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447" autoAdjust="0"/>
  </p:normalViewPr>
  <p:slideViewPr>
    <p:cSldViewPr snapToGrid="0">
      <p:cViewPr varScale="1">
        <p:scale>
          <a:sx n="61" d="100"/>
          <a:sy n="61" d="100"/>
        </p:scale>
        <p:origin x="860" y="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EST\Desktop\DATA%20ANALYSIS%20FILES\CAPSTONE\Final%20Capstone%20Data.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EST\Desktop\DATA%20ANALYSIS%20FILES\CAPSTONE\Final%20Capstone%20Data.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 Capstone Data.xlsx]Sheet1!PivotTable18</c:name>
    <c:fmtId val="4"/>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dLbls>
          <c:showLegendKey val="0"/>
          <c:showVal val="0"/>
          <c:showCatName val="0"/>
          <c:showSerName val="0"/>
          <c:showPercent val="0"/>
          <c:showBubbleSize val="0"/>
        </c:dLbls>
        <c:gapWidth val="219"/>
        <c:overlap val="-27"/>
        <c:axId val="435009920"/>
        <c:axId val="435007520"/>
      </c:barChart>
      <c:catAx>
        <c:axId val="435009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5007520"/>
        <c:crosses val="autoZero"/>
        <c:auto val="1"/>
        <c:lblAlgn val="ctr"/>
        <c:lblOffset val="100"/>
        <c:noMultiLvlLbl val="0"/>
      </c:catAx>
      <c:valAx>
        <c:axId val="435007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50099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 Capstone Data.xlsx]Sheet1!PivotTable14</c:name>
    <c:fmtId val="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dLbls>
          <c:showLegendKey val="0"/>
          <c:showVal val="0"/>
          <c:showCatName val="0"/>
          <c:showSerName val="0"/>
          <c:showPercent val="0"/>
          <c:showBubbleSize val="0"/>
        </c:dLbls>
        <c:gapWidth val="219"/>
        <c:overlap val="-27"/>
        <c:axId val="34992352"/>
        <c:axId val="34991392"/>
      </c:barChart>
      <c:catAx>
        <c:axId val="34992352"/>
        <c:scaling>
          <c:orientation val="minMax"/>
        </c:scaling>
        <c:delete val="1"/>
        <c:axPos val="b"/>
        <c:numFmt formatCode="General" sourceLinked="1"/>
        <c:majorTickMark val="none"/>
        <c:minorTickMark val="none"/>
        <c:tickLblPos val="nextTo"/>
        <c:crossAx val="34991392"/>
        <c:crosses val="autoZero"/>
        <c:auto val="1"/>
        <c:lblAlgn val="ctr"/>
        <c:lblOffset val="100"/>
        <c:noMultiLvlLbl val="0"/>
      </c:catAx>
      <c:valAx>
        <c:axId val="34991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992352"/>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9.png"/></Relationships>
</file>

<file path=ppt/drawings/_rels/drawing2.xml.rels><?xml version="1.0" encoding="UTF-8" standalone="yes"?>
<Relationships xmlns="http://schemas.openxmlformats.org/package/2006/relationships"><Relationship Id="rId1" Type="http://schemas.openxmlformats.org/officeDocument/2006/relationships/image" Target="../media/image11.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chart">
          <a:extLst xmlns:a="http://schemas.openxmlformats.org/drawingml/2006/main">
            <a:ext uri="{FF2B5EF4-FFF2-40B4-BE49-F238E27FC236}">
              <a16:creationId xmlns:a16="http://schemas.microsoft.com/office/drawing/2014/main" id="{889BB069-BA3F-4DDC-B643-7151AF72DAFF}"/>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0515600" cy="3689131"/>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705EE1A5-5419-4763-B8FA-0EC87612492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1944414" y="0"/>
          <a:ext cx="8692055" cy="4005725"/>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7E8A57-9129-4EC1-BCD6-B92B52211100}"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59B245-F39B-48ED-AD48-99AA665A7DD3}" type="slidenum">
              <a:rPr lang="en-US" smtClean="0"/>
              <a:t>‹#›</a:t>
            </a:fld>
            <a:endParaRPr lang="en-US"/>
          </a:p>
        </p:txBody>
      </p:sp>
    </p:spTree>
    <p:extLst>
      <p:ext uri="{BB962C8B-B14F-4D97-AF65-F5344CB8AC3E}">
        <p14:creationId xmlns:p14="http://schemas.microsoft.com/office/powerpoint/2010/main" val="740280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59B245-F39B-48ED-AD48-99AA665A7DD3}" type="slidenum">
              <a:rPr lang="en-US" smtClean="0"/>
              <a:t>1</a:t>
            </a:fld>
            <a:endParaRPr lang="en-US"/>
          </a:p>
        </p:txBody>
      </p:sp>
    </p:spTree>
    <p:extLst>
      <p:ext uri="{BB962C8B-B14F-4D97-AF65-F5344CB8AC3E}">
        <p14:creationId xmlns:p14="http://schemas.microsoft.com/office/powerpoint/2010/main" val="852555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59B245-F39B-48ED-AD48-99AA665A7DD3}" type="slidenum">
              <a:rPr lang="en-US" smtClean="0"/>
              <a:t>7</a:t>
            </a:fld>
            <a:endParaRPr lang="en-US"/>
          </a:p>
        </p:txBody>
      </p:sp>
    </p:spTree>
    <p:extLst>
      <p:ext uri="{BB962C8B-B14F-4D97-AF65-F5344CB8AC3E}">
        <p14:creationId xmlns:p14="http://schemas.microsoft.com/office/powerpoint/2010/main" val="1062386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59B245-F39B-48ED-AD48-99AA665A7DD3}" type="slidenum">
              <a:rPr lang="en-US" smtClean="0"/>
              <a:t>25</a:t>
            </a:fld>
            <a:endParaRPr lang="en-US"/>
          </a:p>
        </p:txBody>
      </p:sp>
    </p:spTree>
    <p:extLst>
      <p:ext uri="{BB962C8B-B14F-4D97-AF65-F5344CB8AC3E}">
        <p14:creationId xmlns:p14="http://schemas.microsoft.com/office/powerpoint/2010/main" val="2580300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59B245-F39B-48ED-AD48-99AA665A7DD3}" type="slidenum">
              <a:rPr lang="en-US" smtClean="0"/>
              <a:t>27</a:t>
            </a:fld>
            <a:endParaRPr lang="en-US"/>
          </a:p>
        </p:txBody>
      </p:sp>
    </p:spTree>
    <p:extLst>
      <p:ext uri="{BB962C8B-B14F-4D97-AF65-F5344CB8AC3E}">
        <p14:creationId xmlns:p14="http://schemas.microsoft.com/office/powerpoint/2010/main" val="1900677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CB8D9F-8A94-4B25-AA28-7D832FCAA94D}"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282EBF-5203-46D6-A0FB-5B849163E7B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6436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B8D9F-8A94-4B25-AA28-7D832FCAA94D}"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282EBF-5203-46D6-A0FB-5B849163E7B1}" type="slidenum">
              <a:rPr lang="en-US" smtClean="0"/>
              <a:t>‹#›</a:t>
            </a:fld>
            <a:endParaRPr lang="en-US"/>
          </a:p>
        </p:txBody>
      </p:sp>
    </p:spTree>
    <p:extLst>
      <p:ext uri="{BB962C8B-B14F-4D97-AF65-F5344CB8AC3E}">
        <p14:creationId xmlns:p14="http://schemas.microsoft.com/office/powerpoint/2010/main" val="2004346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CB8D9F-8A94-4B25-AA28-7D832FCAA94D}"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282EBF-5203-46D6-A0FB-5B849163E7B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487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CB8D9F-8A94-4B25-AA28-7D832FCAA94D}"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282EBF-5203-46D6-A0FB-5B849163E7B1}" type="slidenum">
              <a:rPr lang="en-US" smtClean="0"/>
              <a:t>‹#›</a:t>
            </a:fld>
            <a:endParaRPr lang="en-US"/>
          </a:p>
        </p:txBody>
      </p:sp>
    </p:spTree>
    <p:extLst>
      <p:ext uri="{BB962C8B-B14F-4D97-AF65-F5344CB8AC3E}">
        <p14:creationId xmlns:p14="http://schemas.microsoft.com/office/powerpoint/2010/main" val="3984695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CB8D9F-8A94-4B25-AA28-7D832FCAA94D}"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282EBF-5203-46D6-A0FB-5B849163E7B1}" type="slidenum">
              <a:rPr lang="en-US" smtClean="0"/>
              <a:t>‹#›</a:t>
            </a:fld>
            <a:endParaRPr lang="en-US"/>
          </a:p>
        </p:txBody>
      </p:sp>
    </p:spTree>
    <p:extLst>
      <p:ext uri="{BB962C8B-B14F-4D97-AF65-F5344CB8AC3E}">
        <p14:creationId xmlns:p14="http://schemas.microsoft.com/office/powerpoint/2010/main" val="3435792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CB8D9F-8A94-4B25-AA28-7D832FCAA94D}"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282EBF-5203-46D6-A0FB-5B849163E7B1}" type="slidenum">
              <a:rPr lang="en-US" smtClean="0"/>
              <a:t>‹#›</a:t>
            </a:fld>
            <a:endParaRPr lang="en-US"/>
          </a:p>
        </p:txBody>
      </p:sp>
    </p:spTree>
    <p:extLst>
      <p:ext uri="{BB962C8B-B14F-4D97-AF65-F5344CB8AC3E}">
        <p14:creationId xmlns:p14="http://schemas.microsoft.com/office/powerpoint/2010/main" val="1919911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3CB8D9F-8A94-4B25-AA28-7D832FCAA94D}" type="datetimeFigureOut">
              <a:rPr lang="en-US" smtClean="0"/>
              <a:t>12/17/2025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2282EBF-5203-46D6-A0FB-5B849163E7B1}" type="slidenum">
              <a:rPr lang="en-US" smtClean="0"/>
              <a:t>‹#›</a:t>
            </a:fld>
            <a:endParaRPr lang="en-US"/>
          </a:p>
        </p:txBody>
      </p:sp>
    </p:spTree>
    <p:extLst>
      <p:ext uri="{BB962C8B-B14F-4D97-AF65-F5344CB8AC3E}">
        <p14:creationId xmlns:p14="http://schemas.microsoft.com/office/powerpoint/2010/main" val="3537584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3CB8D9F-8A94-4B25-AA28-7D832FCAA94D}" type="datetimeFigureOut">
              <a:rPr lang="en-US" smtClean="0"/>
              <a:t>12/17/2025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2282EBF-5203-46D6-A0FB-5B849163E7B1}" type="slidenum">
              <a:rPr lang="en-US" smtClean="0"/>
              <a:t>‹#›</a:t>
            </a:fld>
            <a:endParaRPr lang="en-US"/>
          </a:p>
        </p:txBody>
      </p:sp>
    </p:spTree>
    <p:extLst>
      <p:ext uri="{BB962C8B-B14F-4D97-AF65-F5344CB8AC3E}">
        <p14:creationId xmlns:p14="http://schemas.microsoft.com/office/powerpoint/2010/main" val="511757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CB8D9F-8A94-4B25-AA28-7D832FCAA94D}"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282EBF-5203-46D6-A0FB-5B849163E7B1}" type="slidenum">
              <a:rPr lang="en-US" smtClean="0"/>
              <a:t>‹#›</a:t>
            </a:fld>
            <a:endParaRPr lang="en-US"/>
          </a:p>
        </p:txBody>
      </p:sp>
    </p:spTree>
    <p:extLst>
      <p:ext uri="{BB962C8B-B14F-4D97-AF65-F5344CB8AC3E}">
        <p14:creationId xmlns:p14="http://schemas.microsoft.com/office/powerpoint/2010/main" val="495570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B8D9F-8A94-4B25-AA28-7D832FCAA94D}"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282EBF-5203-46D6-A0FB-5B849163E7B1}" type="slidenum">
              <a:rPr lang="en-US" smtClean="0"/>
              <a:t>‹#›</a:t>
            </a:fld>
            <a:endParaRPr lang="en-US"/>
          </a:p>
        </p:txBody>
      </p:sp>
    </p:spTree>
    <p:extLst>
      <p:ext uri="{BB962C8B-B14F-4D97-AF65-F5344CB8AC3E}">
        <p14:creationId xmlns:p14="http://schemas.microsoft.com/office/powerpoint/2010/main" val="418085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B8D9F-8A94-4B25-AA28-7D832FCAA94D}"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282EBF-5203-46D6-A0FB-5B849163E7B1}" type="slidenum">
              <a:rPr lang="en-US" smtClean="0"/>
              <a:t>‹#›</a:t>
            </a:fld>
            <a:endParaRPr lang="en-US"/>
          </a:p>
        </p:txBody>
      </p:sp>
    </p:spTree>
    <p:extLst>
      <p:ext uri="{BB962C8B-B14F-4D97-AF65-F5344CB8AC3E}">
        <p14:creationId xmlns:p14="http://schemas.microsoft.com/office/powerpoint/2010/main" val="1736138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3CB8D9F-8A94-4B25-AA28-7D832FCAA94D}" type="datetimeFigureOut">
              <a:rPr lang="en-US" smtClean="0"/>
              <a:t>12/17/2025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2282EBF-5203-46D6-A0FB-5B849163E7B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5251754"/>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DF513-1448-269A-941D-6786F46FA4F1}"/>
              </a:ext>
            </a:extLst>
          </p:cNvPr>
          <p:cNvSpPr>
            <a:spLocks noGrp="1"/>
          </p:cNvSpPr>
          <p:nvPr>
            <p:ph type="ctrTitle"/>
          </p:nvPr>
        </p:nvSpPr>
        <p:spPr/>
        <p:txBody>
          <a:bodyPr>
            <a:normAutofit/>
          </a:bodyPr>
          <a:lstStyle/>
          <a:p>
            <a:r>
              <a:rPr lang="en-US" b="1" dirty="0">
                <a:latin typeface="Times New Roman" panose="02020603050405020304" pitchFamily="18" charset="0"/>
                <a:cs typeface="Times New Roman" panose="02020603050405020304" pitchFamily="18" charset="0"/>
              </a:rPr>
              <a:t>Sales Performance and Profitability Analysis for a Retail Business </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2C4C025-14F1-7E3C-831D-2A8927369861}"/>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BY: Raphael FLOKU AYERTEY</a:t>
            </a:r>
          </a:p>
        </p:txBody>
      </p:sp>
    </p:spTree>
    <p:extLst>
      <p:ext uri="{BB962C8B-B14F-4D97-AF65-F5344CB8AC3E}">
        <p14:creationId xmlns:p14="http://schemas.microsoft.com/office/powerpoint/2010/main" val="3435697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B99A8-C47A-99FF-0700-96C61493CC4A}"/>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B97F590B-504B-DBA1-047B-D24D18EC750F}"/>
              </a:ext>
            </a:extLst>
          </p:cNvPr>
          <p:cNvSpPr>
            <a:spLocks noGrp="1"/>
          </p:cNvSpPr>
          <p:nvPr>
            <p:ph idx="1"/>
          </p:nvPr>
        </p:nvSpPr>
        <p:spPr/>
        <p:txBody>
          <a:bodyPr>
            <a:normAutofit/>
          </a:bodyPr>
          <a:lstStyle/>
          <a:p>
            <a:r>
              <a:rPr lang="en-US" sz="3300" b="1" dirty="0">
                <a:latin typeface="Times New Roman" panose="02020603050405020304" pitchFamily="18" charset="0"/>
                <a:cs typeface="Times New Roman" panose="02020603050405020304" pitchFamily="18" charset="0"/>
              </a:rPr>
              <a:t>PROBLEM STATEMENT</a:t>
            </a:r>
          </a:p>
          <a:p>
            <a:pPr marL="0" indent="0">
              <a:buNone/>
            </a:pPr>
            <a:r>
              <a:rPr lang="en-GB" sz="3300" dirty="0">
                <a:latin typeface="Times New Roman" panose="02020603050405020304" pitchFamily="18" charset="0"/>
                <a:cs typeface="Times New Roman" panose="02020603050405020304" pitchFamily="18" charset="0"/>
              </a:rPr>
              <a:t>The retail business has collected large volumes of transaction data but struggles to extract actionable insights from it. This lack of visibility limits the company’s ability to segment customers, forecast demand, and tailor its sales strategies resulting in missed revenue opportunities and suboptimal customer satisfaction.</a:t>
            </a:r>
          </a:p>
          <a:p>
            <a:pPr marL="0" indent="0">
              <a:buNone/>
            </a:pPr>
            <a:endParaRPr lang="en-US" dirty="0"/>
          </a:p>
        </p:txBody>
      </p:sp>
    </p:spTree>
    <p:extLst>
      <p:ext uri="{BB962C8B-B14F-4D97-AF65-F5344CB8AC3E}">
        <p14:creationId xmlns:p14="http://schemas.microsoft.com/office/powerpoint/2010/main" val="1524269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E95C37-D4A6-4D68-972B-B8E2017CBBAF}"/>
              </a:ext>
            </a:extLst>
          </p:cNvPr>
          <p:cNvSpPr>
            <a:spLocks noGrp="1"/>
          </p:cNvSpPr>
          <p:nvPr>
            <p:ph type="title"/>
          </p:nvPr>
        </p:nvSpPr>
        <p:spPr>
          <a:xfrm>
            <a:off x="1097280" y="286603"/>
            <a:ext cx="10058400" cy="1689342"/>
          </a:xfrm>
        </p:spPr>
        <p:txBody>
          <a:bodyPr/>
          <a:lstStyle/>
          <a:p>
            <a:r>
              <a:rPr lang="en-US" b="1" dirty="0">
                <a:latin typeface="Times New Roman" panose="02020603050405020304" pitchFamily="18" charset="0"/>
                <a:cs typeface="Times New Roman" panose="02020603050405020304" pitchFamily="18" charset="0"/>
              </a:rPr>
              <a:t>OBJECTIVES</a:t>
            </a:r>
            <a:br>
              <a:rPr lang="en-US" b="1" dirty="0">
                <a:latin typeface="Times New Roman" panose="02020603050405020304" pitchFamily="18" charset="0"/>
                <a:cs typeface="Times New Roman" panose="02020603050405020304" pitchFamily="18" charset="0"/>
              </a:rPr>
            </a:br>
            <a:endParaRPr lang="en-US" dirty="0"/>
          </a:p>
        </p:txBody>
      </p:sp>
      <p:sp>
        <p:nvSpPr>
          <p:cNvPr id="6" name="Content Placeholder 5">
            <a:extLst>
              <a:ext uri="{FF2B5EF4-FFF2-40B4-BE49-F238E27FC236}">
                <a16:creationId xmlns:a16="http://schemas.microsoft.com/office/drawing/2014/main" id="{596B7CE6-0101-4800-9DD1-F18598843069}"/>
              </a:ext>
            </a:extLst>
          </p:cNvPr>
          <p:cNvSpPr>
            <a:spLocks noGrp="1"/>
          </p:cNvSpPr>
          <p:nvPr>
            <p:ph idx="1"/>
          </p:nvPr>
        </p:nvSpPr>
        <p:spPr/>
        <p:txBody>
          <a:bodyPr/>
          <a:lstStyle/>
          <a:p>
            <a:pPr marL="0" indent="0">
              <a:buNone/>
            </a:pPr>
            <a:r>
              <a:rPr lang="en-GB" sz="2000" dirty="0">
                <a:latin typeface="Times New Roman" panose="02020603050405020304" pitchFamily="18" charset="0"/>
                <a:cs typeface="Times New Roman" panose="02020603050405020304" pitchFamily="18" charset="0"/>
              </a:rPr>
              <a:t>The main objective of this Capstone project is to analyse sales performance and profitability patterns within the retail business to support data-driven decision-making. Specific objectives include:</a:t>
            </a:r>
          </a:p>
          <a:p>
            <a:pPr marL="342900" indent="-342900">
              <a:buFont typeface="+mj-lt"/>
              <a:buAutoNum type="arabicPeriod"/>
            </a:pPr>
            <a:r>
              <a:rPr lang="en-GB" sz="2000" dirty="0">
                <a:latin typeface="Times New Roman" panose="02020603050405020304" pitchFamily="18" charset="0"/>
                <a:cs typeface="Times New Roman" panose="02020603050405020304" pitchFamily="18" charset="0"/>
              </a:rPr>
              <a:t>To analyse sales trends across different years, months, and time periods.</a:t>
            </a:r>
          </a:p>
          <a:p>
            <a:pPr marL="342900" indent="-342900">
              <a:buFont typeface="+mj-lt"/>
              <a:buAutoNum type="arabicPeriod"/>
            </a:pPr>
            <a:r>
              <a:rPr lang="en-GB" sz="2000" dirty="0">
                <a:latin typeface="Times New Roman" panose="02020603050405020304" pitchFamily="18" charset="0"/>
                <a:cs typeface="Times New Roman" panose="02020603050405020304" pitchFamily="18" charset="0"/>
              </a:rPr>
              <a:t>To evaluate product category and brand performance in terms of sales volume and profit contribution.</a:t>
            </a:r>
          </a:p>
          <a:p>
            <a:pPr marL="342900" indent="-342900">
              <a:buFont typeface="+mj-lt"/>
              <a:buAutoNum type="arabicPeriod"/>
            </a:pPr>
            <a:r>
              <a:rPr lang="en-GB" sz="2000" dirty="0">
                <a:latin typeface="Times New Roman" panose="02020603050405020304" pitchFamily="18" charset="0"/>
                <a:cs typeface="Times New Roman" panose="02020603050405020304" pitchFamily="18" charset="0"/>
              </a:rPr>
              <a:t>To measure the effect of discounting on profitability and identify optimal pricing strategies.</a:t>
            </a:r>
          </a:p>
          <a:p>
            <a:pPr marL="342900" indent="-342900">
              <a:buFont typeface="+mj-lt"/>
              <a:buAutoNum type="arabicPeriod"/>
            </a:pPr>
            <a:r>
              <a:rPr lang="en-GB" sz="2000" dirty="0">
                <a:latin typeface="Times New Roman" panose="02020603050405020304" pitchFamily="18" charset="0"/>
                <a:cs typeface="Times New Roman" panose="02020603050405020304" pitchFamily="18" charset="0"/>
              </a:rPr>
              <a:t>To assess regional and city-level performance to identify high- and low-performing markets.</a:t>
            </a:r>
          </a:p>
          <a:p>
            <a:endParaRPr lang="en-US" dirty="0"/>
          </a:p>
        </p:txBody>
      </p:sp>
    </p:spTree>
    <p:extLst>
      <p:ext uri="{BB962C8B-B14F-4D97-AF65-F5344CB8AC3E}">
        <p14:creationId xmlns:p14="http://schemas.microsoft.com/office/powerpoint/2010/main" val="2424754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D9EAB-DE90-024F-D928-E1630AD7660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E399ACAB-D48A-9119-3364-322AF59ADC54}"/>
              </a:ext>
            </a:extLst>
          </p:cNvPr>
          <p:cNvSpPr>
            <a:spLocks noGrp="1"/>
          </p:cNvSpPr>
          <p:nvPr>
            <p:ph idx="1"/>
          </p:nvPr>
        </p:nvSpPr>
        <p:spPr>
          <a:xfrm>
            <a:off x="1097281" y="1849821"/>
            <a:ext cx="10407332" cy="4361793"/>
          </a:xfrm>
        </p:spPr>
        <p:txBody>
          <a:bodyPr>
            <a:normAutofit fontScale="77500" lnSpcReduction="20000"/>
          </a:bodyPr>
          <a:lstStyle/>
          <a:p>
            <a:pPr marL="0" indent="0">
              <a:buNone/>
            </a:pPr>
            <a:r>
              <a:rPr lang="en-GB" sz="2100" dirty="0">
                <a:latin typeface="Times New Roman" panose="02020603050405020304" pitchFamily="18" charset="0"/>
                <a:cs typeface="Times New Roman" panose="02020603050405020304" pitchFamily="18" charset="0"/>
              </a:rPr>
              <a:t>It includes information on;</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Regions</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Cities</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Product categories</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Sub-categories</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Product names</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Quantity </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Price </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Discount </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Sales</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Profit </a:t>
            </a:r>
          </a:p>
          <a:p>
            <a:pPr marL="514350" indent="-514350">
              <a:buFont typeface="+mj-lt"/>
              <a:buAutoNum type="arabicPeriod"/>
            </a:pPr>
            <a:r>
              <a:rPr lang="en-GB" sz="2100" dirty="0">
                <a:latin typeface="Times New Roman" panose="02020603050405020304" pitchFamily="18" charset="0"/>
                <a:cs typeface="Times New Roman" panose="02020603050405020304" pitchFamily="18" charset="0"/>
              </a:rPr>
              <a:t>Payment</a:t>
            </a:r>
          </a:p>
          <a:p>
            <a:pPr marL="0" indent="0">
              <a:buNone/>
            </a:pPr>
            <a:endParaRPr lang="en-US" dirty="0"/>
          </a:p>
        </p:txBody>
      </p:sp>
    </p:spTree>
    <p:extLst>
      <p:ext uri="{BB962C8B-B14F-4D97-AF65-F5344CB8AC3E}">
        <p14:creationId xmlns:p14="http://schemas.microsoft.com/office/powerpoint/2010/main" val="869699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10C75-B30D-2E63-861D-9581DC6F8917}"/>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Data Cleaning Performed in Excel</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CB89CD3-4CC5-F46F-968C-EE3B55D4138A}"/>
              </a:ext>
            </a:extLst>
          </p:cNvPr>
          <p:cNvSpPr>
            <a:spLocks noGrp="1"/>
          </p:cNvSpPr>
          <p:nvPr>
            <p:ph idx="1"/>
          </p:nvPr>
        </p:nvSpPr>
        <p:spPr>
          <a:xfrm>
            <a:off x="1264909" y="1737360"/>
            <a:ext cx="8915400" cy="4413219"/>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To prepare the dataset for accurate analysis, several data cleaning steps were carried out in Microsoft Excel:</a:t>
            </a:r>
          </a:p>
          <a:p>
            <a:pPr marL="514350" indent="-514350">
              <a:buFont typeface="+mj-lt"/>
              <a:buAutoNum type="arabicPeriod"/>
            </a:pPr>
            <a:r>
              <a:rPr lang="en-GB" b="1" dirty="0">
                <a:latin typeface="Times New Roman" panose="02020603050405020304" pitchFamily="18" charset="0"/>
                <a:cs typeface="Times New Roman" panose="02020603050405020304" pitchFamily="18" charset="0"/>
              </a:rPr>
              <a:t>Removed Duplicates</a:t>
            </a:r>
            <a:endParaRPr lang="en-GB" dirty="0">
              <a:latin typeface="Times New Roman" panose="02020603050405020304" pitchFamily="18" charset="0"/>
              <a:cs typeface="Times New Roman" panose="02020603050405020304" pitchFamily="18" charset="0"/>
            </a:endParaRPr>
          </a:p>
          <a:p>
            <a:pPr lvl="1"/>
            <a:r>
              <a:rPr lang="en-GB" sz="1800" dirty="0">
                <a:latin typeface="Times New Roman" panose="02020603050405020304" pitchFamily="18" charset="0"/>
                <a:cs typeface="Times New Roman" panose="02020603050405020304" pitchFamily="18" charset="0"/>
              </a:rPr>
              <a:t>Checked for and removed duplicate rows based on Order ID and Product Name.</a:t>
            </a:r>
          </a:p>
          <a:p>
            <a:pPr marL="514350" indent="-514350">
              <a:buFont typeface="+mj-lt"/>
              <a:buAutoNum type="arabicPeriod"/>
            </a:pPr>
            <a:r>
              <a:rPr lang="en-GB" b="1" dirty="0">
                <a:latin typeface="Times New Roman" panose="02020603050405020304" pitchFamily="18" charset="0"/>
                <a:cs typeface="Times New Roman" panose="02020603050405020304" pitchFamily="18" charset="0"/>
              </a:rPr>
              <a:t>Handled Missing Values</a:t>
            </a:r>
            <a:endParaRPr lang="en-GB" dirty="0">
              <a:latin typeface="Times New Roman" panose="02020603050405020304" pitchFamily="18" charset="0"/>
              <a:cs typeface="Times New Roman" panose="02020603050405020304" pitchFamily="18" charset="0"/>
            </a:endParaRPr>
          </a:p>
          <a:p>
            <a:pPr lvl="1"/>
            <a:r>
              <a:rPr lang="en-GB" sz="1800" dirty="0">
                <a:latin typeface="Times New Roman" panose="02020603050405020304" pitchFamily="18" charset="0"/>
                <a:cs typeface="Times New Roman" panose="02020603050405020304" pitchFamily="18" charset="0"/>
              </a:rPr>
              <a:t>Identified blank cells in key fields such as Profit, Sales, Quantity, and Payment Mode.</a:t>
            </a:r>
          </a:p>
          <a:p>
            <a:pPr lvl="1"/>
            <a:r>
              <a:rPr lang="en-GB" sz="1800" dirty="0">
                <a:latin typeface="Times New Roman" panose="02020603050405020304" pitchFamily="18" charset="0"/>
                <a:cs typeface="Times New Roman" panose="02020603050405020304" pitchFamily="18" charset="0"/>
              </a:rPr>
              <a:t>Filled or corrected missing entries where appropriate.</a:t>
            </a:r>
          </a:p>
          <a:p>
            <a:pPr marL="514350" indent="-514350">
              <a:buFont typeface="+mj-lt"/>
              <a:buAutoNum type="arabicPeriod"/>
            </a:pPr>
            <a:r>
              <a:rPr lang="en-GB" b="1" dirty="0">
                <a:latin typeface="Times New Roman" panose="02020603050405020304" pitchFamily="18" charset="0"/>
                <a:cs typeface="Times New Roman" panose="02020603050405020304" pitchFamily="18" charset="0"/>
              </a:rPr>
              <a:t>Corrected Inconsistent Category Names</a:t>
            </a:r>
            <a:endParaRPr lang="en-GB" dirty="0">
              <a:latin typeface="Times New Roman" panose="02020603050405020304" pitchFamily="18" charset="0"/>
              <a:cs typeface="Times New Roman" panose="02020603050405020304" pitchFamily="18" charset="0"/>
            </a:endParaRPr>
          </a:p>
          <a:p>
            <a:pPr lvl="1"/>
            <a:r>
              <a:rPr lang="en-GB" sz="1800" dirty="0">
                <a:latin typeface="Times New Roman" panose="02020603050405020304" pitchFamily="18" charset="0"/>
                <a:cs typeface="Times New Roman" panose="02020603050405020304" pitchFamily="18" charset="0"/>
              </a:rPr>
              <a:t>Ensured Category and Sub Category names were consistent.</a:t>
            </a:r>
          </a:p>
          <a:p>
            <a:pPr marL="514350" indent="-514350">
              <a:buFont typeface="+mj-lt"/>
              <a:buAutoNum type="arabicPeriod"/>
            </a:pPr>
            <a:r>
              <a:rPr lang="en-GB" b="1" dirty="0">
                <a:latin typeface="Times New Roman" panose="02020603050405020304" pitchFamily="18" charset="0"/>
                <a:cs typeface="Times New Roman" panose="02020603050405020304" pitchFamily="18" charset="0"/>
              </a:rPr>
              <a:t>Cleaned Customer Names and City Fields</a:t>
            </a:r>
            <a:endParaRPr lang="en-GB" dirty="0">
              <a:latin typeface="Times New Roman" panose="02020603050405020304" pitchFamily="18" charset="0"/>
              <a:cs typeface="Times New Roman" panose="02020603050405020304" pitchFamily="18" charset="0"/>
            </a:endParaRPr>
          </a:p>
          <a:p>
            <a:pPr lvl="1"/>
            <a:r>
              <a:rPr lang="en-GB" sz="1800" dirty="0">
                <a:latin typeface="Times New Roman" panose="02020603050405020304" pitchFamily="18" charset="0"/>
                <a:cs typeface="Times New Roman" panose="02020603050405020304" pitchFamily="18" charset="0"/>
              </a:rPr>
              <a:t>Removed extra spaces, fixed capitalization, and corrected spelling inconsistencies using TRIM.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3338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09E01B-6CE4-E77F-481F-7CC8B2B091A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ANALYSIS</a:t>
            </a:r>
          </a:p>
        </p:txBody>
      </p:sp>
    </p:spTree>
    <p:extLst>
      <p:ext uri="{BB962C8B-B14F-4D97-AF65-F5344CB8AC3E}">
        <p14:creationId xmlns:p14="http://schemas.microsoft.com/office/powerpoint/2010/main" val="1268154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1EDC-776B-0928-1CC7-ED73FA179C5F}"/>
              </a:ext>
            </a:extLst>
          </p:cNvPr>
          <p:cNvSpPr>
            <a:spLocks noGrp="1"/>
          </p:cNvSpPr>
          <p:nvPr>
            <p:ph type="title"/>
          </p:nvPr>
        </p:nvSpPr>
        <p:spPr>
          <a:xfrm>
            <a:off x="1659319" y="819807"/>
            <a:ext cx="9567543" cy="1450428"/>
          </a:xfrm>
        </p:spPr>
        <p:txBody>
          <a:bodyPr>
            <a:normAutofit fontScale="90000"/>
          </a:bodyPr>
          <a:lstStyle/>
          <a:p>
            <a:r>
              <a:rPr lang="en-US" dirty="0">
                <a:latin typeface="Times New Roman" panose="02020603050405020304" pitchFamily="18" charset="0"/>
                <a:cs typeface="Times New Roman" panose="02020603050405020304" pitchFamily="18" charset="0"/>
              </a:rPr>
              <a:t>SALES AND PROFIT BY CATEGORY</a:t>
            </a:r>
            <a:br>
              <a:rPr lang="en-US" dirty="0"/>
            </a:br>
            <a:endParaRPr lang="en-US" dirty="0"/>
          </a:p>
        </p:txBody>
      </p:sp>
      <p:pic>
        <p:nvPicPr>
          <p:cNvPr id="7" name="Content Placeholder 6">
            <a:extLst>
              <a:ext uri="{FF2B5EF4-FFF2-40B4-BE49-F238E27FC236}">
                <a16:creationId xmlns:a16="http://schemas.microsoft.com/office/drawing/2014/main" id="{3000C6B1-FFF5-A5AE-87DC-455169EFA709}"/>
              </a:ext>
            </a:extLst>
          </p:cNvPr>
          <p:cNvPicPr>
            <a:picLocks noGrp="1" noChangeAspect="1"/>
          </p:cNvPicPr>
          <p:nvPr>
            <p:ph idx="1"/>
          </p:nvPr>
        </p:nvPicPr>
        <p:blipFill>
          <a:blip r:embed="rId3"/>
          <a:stretch>
            <a:fillRect/>
          </a:stretch>
        </p:blipFill>
        <p:spPr>
          <a:xfrm>
            <a:off x="2007015" y="1902373"/>
            <a:ext cx="8177969" cy="3316790"/>
          </a:xfrm>
          <a:prstGeom prst="rect">
            <a:avLst/>
          </a:prstGeom>
        </p:spPr>
      </p:pic>
      <p:sp>
        <p:nvSpPr>
          <p:cNvPr id="5" name="TextBox 4">
            <a:extLst>
              <a:ext uri="{FF2B5EF4-FFF2-40B4-BE49-F238E27FC236}">
                <a16:creationId xmlns:a16="http://schemas.microsoft.com/office/drawing/2014/main" id="{55253804-99F4-AAC4-FA16-902EA305B5B5}"/>
              </a:ext>
            </a:extLst>
          </p:cNvPr>
          <p:cNvSpPr txBox="1"/>
          <p:nvPr/>
        </p:nvSpPr>
        <p:spPr>
          <a:xfrm>
            <a:off x="1659319" y="5330001"/>
            <a:ext cx="5603330" cy="903889"/>
          </a:xfrm>
          <a:prstGeom prst="rect">
            <a:avLst/>
          </a:prstGeom>
          <a:solidFill>
            <a:schemeClr val="bg2">
              <a:lumMod val="75000"/>
            </a:schemeClr>
          </a:solidFill>
          <a:ln w="9525" cmpd="sng">
            <a:solidFill>
              <a:schemeClr val="tx1"/>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Furniture</a:t>
            </a:r>
            <a:r>
              <a:rPr lang="en-US" sz="1600" baseline="0" dirty="0">
                <a:latin typeface="Times New Roman" panose="02020603050405020304" pitchFamily="18" charset="0"/>
                <a:cs typeface="Times New Roman" panose="02020603050405020304" pitchFamily="18" charset="0"/>
              </a:rPr>
              <a:t> recorded the highest in and profits while Home </a:t>
            </a:r>
            <a:r>
              <a:rPr lang="en-GB" sz="1600" dirty="0">
                <a:latin typeface="Times New Roman" panose="02020603050405020304" pitchFamily="18" charset="0"/>
                <a:cs typeface="Times New Roman" panose="02020603050405020304" pitchFamily="18" charset="0"/>
              </a:rPr>
              <a:t>Home Decor leads in sales but does not convert proportionally into high profit, showing possible margin issues.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4485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89B24-FEE9-4072-8C08-0E47A18C331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DISCOUNT PER CATEGORY</a:t>
            </a:r>
          </a:p>
        </p:txBody>
      </p:sp>
      <p:pic>
        <p:nvPicPr>
          <p:cNvPr id="5" name="Content Placeholder 4">
            <a:extLst>
              <a:ext uri="{FF2B5EF4-FFF2-40B4-BE49-F238E27FC236}">
                <a16:creationId xmlns:a16="http://schemas.microsoft.com/office/drawing/2014/main" id="{AC17C9A5-5AA0-446B-8E9C-B4B77D322A85}"/>
              </a:ext>
            </a:extLst>
          </p:cNvPr>
          <p:cNvPicPr>
            <a:picLocks noGrp="1" noChangeAspect="1"/>
          </p:cNvPicPr>
          <p:nvPr>
            <p:ph idx="1"/>
          </p:nvPr>
        </p:nvPicPr>
        <p:blipFill>
          <a:blip r:embed="rId2"/>
          <a:stretch>
            <a:fillRect/>
          </a:stretch>
        </p:blipFill>
        <p:spPr>
          <a:xfrm>
            <a:off x="2459421" y="1846264"/>
            <a:ext cx="7038331" cy="3734730"/>
          </a:xfrm>
          <a:prstGeom prst="rect">
            <a:avLst/>
          </a:prstGeom>
        </p:spPr>
      </p:pic>
      <p:sp>
        <p:nvSpPr>
          <p:cNvPr id="6" name="TextBox 5">
            <a:extLst>
              <a:ext uri="{FF2B5EF4-FFF2-40B4-BE49-F238E27FC236}">
                <a16:creationId xmlns:a16="http://schemas.microsoft.com/office/drawing/2014/main" id="{551FFB8C-27C7-40C5-A9C1-170C7923BF5F}"/>
              </a:ext>
            </a:extLst>
          </p:cNvPr>
          <p:cNvSpPr txBox="1"/>
          <p:nvPr/>
        </p:nvSpPr>
        <p:spPr>
          <a:xfrm>
            <a:off x="441434" y="5628236"/>
            <a:ext cx="5044966" cy="646331"/>
          </a:xfrm>
          <a:prstGeom prst="rect">
            <a:avLst/>
          </a:prstGeom>
          <a:solidFill>
            <a:schemeClr val="bg2">
              <a:lumMod val="75000"/>
            </a:schemeClr>
          </a:solidFill>
        </p:spPr>
        <p:txBody>
          <a:bodyPr wrap="square" rtlCol="0">
            <a:spAutoFit/>
          </a:bodyPr>
          <a:lstStyle/>
          <a:p>
            <a:r>
              <a:rPr lang="en-US" dirty="0">
                <a:latin typeface="Times New Roman" panose="02020603050405020304" pitchFamily="18" charset="0"/>
                <a:cs typeface="Times New Roman" panose="02020603050405020304" pitchFamily="18" charset="0"/>
              </a:rPr>
              <a:t>The graph shows that Kitchen received the highest discounts. </a:t>
            </a:r>
          </a:p>
        </p:txBody>
      </p:sp>
    </p:spTree>
    <p:extLst>
      <p:ext uri="{BB962C8B-B14F-4D97-AF65-F5344CB8AC3E}">
        <p14:creationId xmlns:p14="http://schemas.microsoft.com/office/powerpoint/2010/main" val="2950920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5F40-B660-CA39-EFDE-6BFA3DA282D8}"/>
              </a:ext>
            </a:extLst>
          </p:cNvPr>
          <p:cNvSpPr>
            <a:spLocks noGrp="1"/>
          </p:cNvSpPr>
          <p:nvPr>
            <p:ph type="title"/>
          </p:nvPr>
        </p:nvSpPr>
        <p:spPr>
          <a:xfrm>
            <a:off x="2582040" y="112481"/>
            <a:ext cx="8911687" cy="703948"/>
          </a:xfrm>
        </p:spPr>
        <p:txBody>
          <a:bodyPr>
            <a:normAutofit fontScale="90000"/>
          </a:bodyPr>
          <a:lstStyle/>
          <a:p>
            <a:r>
              <a:rPr lang="en-US" dirty="0">
                <a:latin typeface="Times New Roman" panose="02020603050405020304" pitchFamily="18" charset="0"/>
                <a:cs typeface="Times New Roman" panose="02020603050405020304" pitchFamily="18" charset="0"/>
              </a:rPr>
              <a:t>SALES PER SUB CATEGORY</a:t>
            </a:r>
          </a:p>
        </p:txBody>
      </p:sp>
      <p:pic>
        <p:nvPicPr>
          <p:cNvPr id="6" name="Content Placeholder 5">
            <a:extLst>
              <a:ext uri="{FF2B5EF4-FFF2-40B4-BE49-F238E27FC236}">
                <a16:creationId xmlns:a16="http://schemas.microsoft.com/office/drawing/2014/main" id="{6291C390-1B15-41DD-89B0-E6099402FB16}"/>
              </a:ext>
            </a:extLst>
          </p:cNvPr>
          <p:cNvPicPr>
            <a:picLocks noGrp="1" noChangeAspect="1"/>
          </p:cNvPicPr>
          <p:nvPr>
            <p:ph idx="1"/>
          </p:nvPr>
        </p:nvPicPr>
        <p:blipFill>
          <a:blip r:embed="rId2"/>
          <a:stretch>
            <a:fillRect/>
          </a:stretch>
        </p:blipFill>
        <p:spPr>
          <a:xfrm>
            <a:off x="856593" y="1860331"/>
            <a:ext cx="10478813" cy="3919630"/>
          </a:xfrm>
          <a:prstGeom prst="rect">
            <a:avLst/>
          </a:prstGeom>
        </p:spPr>
      </p:pic>
      <p:sp>
        <p:nvSpPr>
          <p:cNvPr id="7" name="TextBox 6">
            <a:extLst>
              <a:ext uri="{FF2B5EF4-FFF2-40B4-BE49-F238E27FC236}">
                <a16:creationId xmlns:a16="http://schemas.microsoft.com/office/drawing/2014/main" id="{D61ED2D6-847F-4EAC-B878-E97D37ABEFD3}"/>
              </a:ext>
            </a:extLst>
          </p:cNvPr>
          <p:cNvSpPr txBox="1"/>
          <p:nvPr/>
        </p:nvSpPr>
        <p:spPr>
          <a:xfrm>
            <a:off x="641132" y="5779961"/>
            <a:ext cx="7294179" cy="523220"/>
          </a:xfrm>
          <a:prstGeom prst="rect">
            <a:avLst/>
          </a:prstGeom>
          <a:solidFill>
            <a:schemeClr val="bg2">
              <a:lumMod val="75000"/>
            </a:schemeClr>
          </a:solidFill>
        </p:spPr>
        <p:txBody>
          <a:bodyPr wrap="square" rtlCol="0">
            <a:spAutoFit/>
          </a:bodyPr>
          <a:lstStyle/>
          <a:p>
            <a:r>
              <a:rPr lang="en-US" sz="1400" dirty="0">
                <a:latin typeface="Times New Roman" panose="02020603050405020304" pitchFamily="18" charset="0"/>
                <a:cs typeface="Times New Roman" panose="02020603050405020304" pitchFamily="18" charset="0"/>
              </a:rPr>
              <a:t>Due to the number of sub-category, we focused on the top 15 products by sales. Sofa recorded the highest. </a:t>
            </a:r>
          </a:p>
        </p:txBody>
      </p:sp>
    </p:spTree>
    <p:extLst>
      <p:ext uri="{BB962C8B-B14F-4D97-AF65-F5344CB8AC3E}">
        <p14:creationId xmlns:p14="http://schemas.microsoft.com/office/powerpoint/2010/main" val="1976332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E1129-84E2-46B0-B960-22061D0AF558}"/>
              </a:ext>
            </a:extLst>
          </p:cNvPr>
          <p:cNvSpPr>
            <a:spLocks noGrp="1"/>
          </p:cNvSpPr>
          <p:nvPr>
            <p:ph type="title"/>
          </p:nvPr>
        </p:nvSpPr>
        <p:spPr>
          <a:xfrm>
            <a:off x="1097280" y="286603"/>
            <a:ext cx="10058400" cy="932597"/>
          </a:xfrm>
        </p:spPr>
        <p:txBody>
          <a:bodyPr/>
          <a:lstStyle/>
          <a:p>
            <a:r>
              <a:rPr lang="en-US" dirty="0">
                <a:latin typeface="Times New Roman" panose="02020603050405020304" pitchFamily="18" charset="0"/>
                <a:cs typeface="Times New Roman" panose="02020603050405020304" pitchFamily="18" charset="0"/>
              </a:rPr>
              <a:t>PROFIT PER SUB-CATEGORY</a:t>
            </a:r>
          </a:p>
        </p:txBody>
      </p:sp>
      <p:pic>
        <p:nvPicPr>
          <p:cNvPr id="4" name="Content Placeholder 3">
            <a:extLst>
              <a:ext uri="{FF2B5EF4-FFF2-40B4-BE49-F238E27FC236}">
                <a16:creationId xmlns:a16="http://schemas.microsoft.com/office/drawing/2014/main" id="{AE823D51-F7FF-4ED9-BA52-E40EFBE25525}"/>
              </a:ext>
            </a:extLst>
          </p:cNvPr>
          <p:cNvPicPr>
            <a:picLocks noGrp="1" noChangeAspect="1"/>
          </p:cNvPicPr>
          <p:nvPr>
            <p:ph idx="1"/>
          </p:nvPr>
        </p:nvPicPr>
        <p:blipFill>
          <a:blip r:embed="rId2"/>
          <a:stretch>
            <a:fillRect/>
          </a:stretch>
        </p:blipFill>
        <p:spPr>
          <a:xfrm>
            <a:off x="791166" y="1965434"/>
            <a:ext cx="10670628" cy="3941380"/>
          </a:xfrm>
          <a:prstGeom prst="rect">
            <a:avLst/>
          </a:prstGeom>
        </p:spPr>
      </p:pic>
      <p:sp>
        <p:nvSpPr>
          <p:cNvPr id="5" name="TextBox 4">
            <a:extLst>
              <a:ext uri="{FF2B5EF4-FFF2-40B4-BE49-F238E27FC236}">
                <a16:creationId xmlns:a16="http://schemas.microsoft.com/office/drawing/2014/main" id="{431A2929-8A9B-4DAA-B650-11FE52A844AE}"/>
              </a:ext>
            </a:extLst>
          </p:cNvPr>
          <p:cNvSpPr txBox="1"/>
          <p:nvPr/>
        </p:nvSpPr>
        <p:spPr>
          <a:xfrm>
            <a:off x="993228" y="5906814"/>
            <a:ext cx="7478110" cy="369332"/>
          </a:xfrm>
          <a:prstGeom prst="rect">
            <a:avLst/>
          </a:prstGeom>
          <a:solidFill>
            <a:schemeClr val="bg2">
              <a:lumMod val="75000"/>
            </a:schemeClr>
          </a:solidFill>
        </p:spPr>
        <p:txBody>
          <a:bodyPr wrap="square" rtlCol="0">
            <a:spAutoFit/>
          </a:bodyPr>
          <a:lstStyle/>
          <a:p>
            <a:r>
              <a:rPr lang="en-US" dirty="0"/>
              <a:t>Sofa once again recorded highest profit in products sub-category. </a:t>
            </a:r>
          </a:p>
        </p:txBody>
      </p:sp>
    </p:spTree>
    <p:extLst>
      <p:ext uri="{BB962C8B-B14F-4D97-AF65-F5344CB8AC3E}">
        <p14:creationId xmlns:p14="http://schemas.microsoft.com/office/powerpoint/2010/main" val="2024022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ACEB-FB9C-418F-9828-ECCAB79BE3CC}"/>
              </a:ext>
            </a:extLst>
          </p:cNvPr>
          <p:cNvSpPr>
            <a:spLocks noGrp="1"/>
          </p:cNvSpPr>
          <p:nvPr>
            <p:ph type="title"/>
          </p:nvPr>
        </p:nvSpPr>
        <p:spPr>
          <a:xfrm>
            <a:off x="1066800" y="759346"/>
            <a:ext cx="10058400" cy="791429"/>
          </a:xfrm>
        </p:spPr>
        <p:txBody>
          <a:bodyPr/>
          <a:lstStyle/>
          <a:p>
            <a:r>
              <a:rPr lang="en-US" dirty="0">
                <a:latin typeface="Times New Roman" panose="02020603050405020304" pitchFamily="18" charset="0"/>
                <a:cs typeface="Times New Roman" panose="02020603050405020304" pitchFamily="18" charset="0"/>
              </a:rPr>
              <a:t>DISCOUNT BY SUB-CATEGORY</a:t>
            </a:r>
          </a:p>
        </p:txBody>
      </p:sp>
      <p:pic>
        <p:nvPicPr>
          <p:cNvPr id="4" name="Content Placeholder 3">
            <a:extLst>
              <a:ext uri="{FF2B5EF4-FFF2-40B4-BE49-F238E27FC236}">
                <a16:creationId xmlns:a16="http://schemas.microsoft.com/office/drawing/2014/main" id="{28B35FDA-77F6-484B-B020-3AE221E47B67}"/>
              </a:ext>
            </a:extLst>
          </p:cNvPr>
          <p:cNvPicPr>
            <a:picLocks noGrp="1" noChangeAspect="1"/>
          </p:cNvPicPr>
          <p:nvPr>
            <p:ph idx="1"/>
          </p:nvPr>
        </p:nvPicPr>
        <p:blipFill>
          <a:blip r:embed="rId2"/>
          <a:stretch>
            <a:fillRect/>
          </a:stretch>
        </p:blipFill>
        <p:spPr>
          <a:xfrm>
            <a:off x="1056289" y="1797491"/>
            <a:ext cx="10079421" cy="3552275"/>
          </a:xfrm>
          <a:prstGeom prst="rect">
            <a:avLst/>
          </a:prstGeom>
        </p:spPr>
      </p:pic>
      <p:sp>
        <p:nvSpPr>
          <p:cNvPr id="5" name="TextBox 4">
            <a:extLst>
              <a:ext uri="{FF2B5EF4-FFF2-40B4-BE49-F238E27FC236}">
                <a16:creationId xmlns:a16="http://schemas.microsoft.com/office/drawing/2014/main" id="{6F05E73A-3D6A-4839-88C3-6C7B97CDB984}"/>
              </a:ext>
            </a:extLst>
          </p:cNvPr>
          <p:cNvSpPr txBox="1"/>
          <p:nvPr/>
        </p:nvSpPr>
        <p:spPr>
          <a:xfrm>
            <a:off x="1954923" y="5427512"/>
            <a:ext cx="9080938" cy="923330"/>
          </a:xfrm>
          <a:prstGeom prst="rect">
            <a:avLst/>
          </a:prstGeom>
          <a:solidFill>
            <a:schemeClr val="bg2">
              <a:lumMod val="75000"/>
            </a:schemeClr>
          </a:solidFill>
        </p:spPr>
        <p:txBody>
          <a:bodyPr wrap="square" rtlCol="0">
            <a:spAutoFit/>
          </a:bodyPr>
          <a:lstStyle/>
          <a:p>
            <a:r>
              <a:rPr lang="en-GB" b="0" dirty="0">
                <a:solidFill>
                  <a:srgbClr val="000000"/>
                </a:solidFill>
                <a:effectLst/>
                <a:latin typeface="Times New Roman" panose="02020603050405020304" pitchFamily="18" charset="0"/>
                <a:cs typeface="Times New Roman" panose="02020603050405020304" pitchFamily="18" charset="0"/>
              </a:rPr>
              <a:t>Lamp received highest discount followed by sofa. It can be contested that, Sofa's high sales and profits were driven by high discounts.</a:t>
            </a:r>
          </a:p>
          <a:p>
            <a:endParaRPr lang="en-US" dirty="0"/>
          </a:p>
        </p:txBody>
      </p:sp>
    </p:spTree>
    <p:extLst>
      <p:ext uri="{BB962C8B-B14F-4D97-AF65-F5344CB8AC3E}">
        <p14:creationId xmlns:p14="http://schemas.microsoft.com/office/powerpoint/2010/main" val="1213516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19901-9859-EB0D-5A2B-D22085758A2C}"/>
              </a:ext>
            </a:extLst>
          </p:cNvPr>
          <p:cNvSpPr>
            <a:spLocks noGrp="1"/>
          </p:cNvSpPr>
          <p:nvPr>
            <p:ph type="title"/>
          </p:nvPr>
        </p:nvSpPr>
        <p:spPr>
          <a:xfrm>
            <a:off x="1097280" y="286603"/>
            <a:ext cx="10058400" cy="2015163"/>
          </a:xfrm>
        </p:spPr>
        <p:txBody>
          <a:bodyPr>
            <a:normAutofit/>
          </a:bodyPr>
          <a:lstStyle/>
          <a:p>
            <a:r>
              <a:rPr lang="en-US" dirty="0">
                <a:latin typeface="Times New Roman" panose="02020603050405020304" pitchFamily="18" charset="0"/>
                <a:cs typeface="Times New Roman" panose="02020603050405020304" pitchFamily="18" charset="0"/>
              </a:rPr>
              <a:t>SALES AND PROFIT BY CITIES</a:t>
            </a:r>
            <a:br>
              <a:rPr lang="en-US" dirty="0"/>
            </a:br>
            <a:endParaRPr lang="en-US" dirty="0"/>
          </a:p>
        </p:txBody>
      </p:sp>
      <p:pic>
        <p:nvPicPr>
          <p:cNvPr id="1026" name="Picture 2">
            <a:extLst>
              <a:ext uri="{FF2B5EF4-FFF2-40B4-BE49-F238E27FC236}">
                <a16:creationId xmlns:a16="http://schemas.microsoft.com/office/drawing/2014/main" id="{0F255D38-8D63-425E-A7B1-3C3557EF9E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7608" y="1912883"/>
            <a:ext cx="8759431" cy="35945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5ABA854-73EF-44E9-A2A6-FDC760C27DE1}"/>
              </a:ext>
            </a:extLst>
          </p:cNvPr>
          <p:cNvSpPr txBox="1"/>
          <p:nvPr/>
        </p:nvSpPr>
        <p:spPr>
          <a:xfrm>
            <a:off x="881555" y="5670332"/>
            <a:ext cx="10847990" cy="738664"/>
          </a:xfrm>
          <a:prstGeom prst="rect">
            <a:avLst/>
          </a:prstGeom>
          <a:solidFill>
            <a:schemeClr val="bg2">
              <a:lumMod val="75000"/>
            </a:schemeClr>
          </a:solidFill>
        </p:spPr>
        <p:txBody>
          <a:bodyPr wrap="square" rtlCol="0">
            <a:spAutoFit/>
          </a:bodyPr>
          <a:lstStyle/>
          <a:p>
            <a:pPr marL="514350" indent="-514350">
              <a:buFont typeface="+mj-lt"/>
              <a:buAutoNum type="arabicPeriod"/>
            </a:pPr>
            <a:r>
              <a:rPr lang="en-US" sz="1400" dirty="0">
                <a:latin typeface="Times New Roman" panose="02020603050405020304" pitchFamily="18" charset="0"/>
                <a:cs typeface="Times New Roman" panose="02020603050405020304" pitchFamily="18" charset="0"/>
              </a:rPr>
              <a:t>Lucknow recorded the highest profit followed by Guwahati and Bangalore while Thiruvananthapuram recorded lowest profit. </a:t>
            </a:r>
          </a:p>
          <a:p>
            <a:pPr marL="514350" indent="-514350">
              <a:buFont typeface="+mj-lt"/>
              <a:buAutoNum type="arabicPeriod"/>
            </a:pPr>
            <a:r>
              <a:rPr lang="en-US" sz="1400" dirty="0">
                <a:latin typeface="Times New Roman" panose="02020603050405020304" pitchFamily="18" charset="0"/>
                <a:cs typeface="Times New Roman" panose="02020603050405020304" pitchFamily="18" charset="0"/>
              </a:rPr>
              <a:t>For Sales, the top 3 maintained their positions but now Bangalore recorded highest followed by Lucknow and Guwahati. Thiruvananthapuram recorded once again the lowest sales. </a:t>
            </a:r>
          </a:p>
        </p:txBody>
      </p:sp>
    </p:spTree>
    <p:extLst>
      <p:ext uri="{BB962C8B-B14F-4D97-AF65-F5344CB8AC3E}">
        <p14:creationId xmlns:p14="http://schemas.microsoft.com/office/powerpoint/2010/main" val="3878687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9A68-CD89-0099-CE1E-10E53C5B9E9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DISCOUNT BY CITIES</a:t>
            </a:r>
          </a:p>
        </p:txBody>
      </p:sp>
      <p:pic>
        <p:nvPicPr>
          <p:cNvPr id="6" name="Content Placeholder 5">
            <a:extLst>
              <a:ext uri="{FF2B5EF4-FFF2-40B4-BE49-F238E27FC236}">
                <a16:creationId xmlns:a16="http://schemas.microsoft.com/office/drawing/2014/main" id="{4BDE35B6-1C06-22DC-582F-E53617D5D10C}"/>
              </a:ext>
            </a:extLst>
          </p:cNvPr>
          <p:cNvPicPr>
            <a:picLocks noGrp="1" noChangeAspect="1"/>
          </p:cNvPicPr>
          <p:nvPr>
            <p:ph idx="1"/>
          </p:nvPr>
        </p:nvPicPr>
        <p:blipFill>
          <a:blip r:embed="rId2"/>
          <a:stretch>
            <a:fillRect/>
          </a:stretch>
        </p:blipFill>
        <p:spPr>
          <a:xfrm>
            <a:off x="1097280" y="2084200"/>
            <a:ext cx="9566955" cy="3822613"/>
          </a:xfrm>
          <a:prstGeom prst="rect">
            <a:avLst/>
          </a:prstGeom>
        </p:spPr>
      </p:pic>
      <p:sp>
        <p:nvSpPr>
          <p:cNvPr id="3" name="TextBox 2">
            <a:extLst>
              <a:ext uri="{FF2B5EF4-FFF2-40B4-BE49-F238E27FC236}">
                <a16:creationId xmlns:a16="http://schemas.microsoft.com/office/drawing/2014/main" id="{F538D80E-7C5F-4E9C-B83C-2183643485CB}"/>
              </a:ext>
            </a:extLst>
          </p:cNvPr>
          <p:cNvSpPr txBox="1"/>
          <p:nvPr/>
        </p:nvSpPr>
        <p:spPr>
          <a:xfrm>
            <a:off x="2028715" y="5791199"/>
            <a:ext cx="7704083" cy="523220"/>
          </a:xfrm>
          <a:prstGeom prst="rect">
            <a:avLst/>
          </a:prstGeom>
          <a:solidFill>
            <a:schemeClr val="bg2">
              <a:lumMod val="75000"/>
            </a:schemeClr>
          </a:solidFill>
        </p:spPr>
        <p:txBody>
          <a:bodyPr wrap="square" rtlCol="0">
            <a:spAutoFit/>
          </a:bodyPr>
          <a:lstStyle/>
          <a:p>
            <a:r>
              <a:rPr lang="en-US" sz="1400" dirty="0">
                <a:latin typeface="Times New Roman" panose="02020603050405020304" pitchFamily="18" charset="0"/>
                <a:cs typeface="Times New Roman" panose="02020603050405020304" pitchFamily="18" charset="0"/>
              </a:rPr>
              <a:t>It can be noted that, the sales and profit by Guwahati was influenced by the number of discount placed on items in the city. Guwahati recorded the highest discount(i.e. 3110) which is not sustainable. </a:t>
            </a:r>
          </a:p>
        </p:txBody>
      </p:sp>
    </p:spTree>
    <p:extLst>
      <p:ext uri="{BB962C8B-B14F-4D97-AF65-F5344CB8AC3E}">
        <p14:creationId xmlns:p14="http://schemas.microsoft.com/office/powerpoint/2010/main" val="2367910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DB4E71-F492-D686-2FA3-40A5A5E2575D}"/>
              </a:ext>
            </a:extLst>
          </p:cNvPr>
          <p:cNvSpPr>
            <a:spLocks noGrp="1"/>
          </p:cNvSpPr>
          <p:nvPr>
            <p:ph type="title"/>
          </p:nvPr>
        </p:nvSpPr>
        <p:spPr/>
        <p:txBody>
          <a:bodyPr>
            <a:normAutofit/>
          </a:bodyPr>
          <a:lstStyle/>
          <a:p>
            <a:r>
              <a:rPr lang="en-GB" dirty="0">
                <a:latin typeface="Times New Roman" panose="02020603050405020304" pitchFamily="18" charset="0"/>
                <a:cs typeface="Times New Roman" panose="02020603050405020304" pitchFamily="18" charset="0"/>
              </a:rPr>
              <a:t>SALES &amp; PROFIT  BY REGION </a:t>
            </a:r>
            <a:endParaRPr lang="en-US" dirty="0">
              <a:latin typeface="Times New Roman" panose="02020603050405020304" pitchFamily="18" charset="0"/>
              <a:cs typeface="Times New Roman" panose="02020603050405020304" pitchFamily="18" charset="0"/>
            </a:endParaRPr>
          </a:p>
        </p:txBody>
      </p:sp>
      <p:graphicFrame>
        <p:nvGraphicFramePr>
          <p:cNvPr id="26" name="Content Placeholder 25">
            <a:extLst>
              <a:ext uri="{FF2B5EF4-FFF2-40B4-BE49-F238E27FC236}">
                <a16:creationId xmlns:a16="http://schemas.microsoft.com/office/drawing/2014/main" id="{73E93A05-40B4-E684-2F0E-AEF8E25157E9}"/>
              </a:ext>
            </a:extLst>
          </p:cNvPr>
          <p:cNvGraphicFramePr>
            <a:graphicFrameLocks noGrp="1"/>
          </p:cNvGraphicFramePr>
          <p:nvPr>
            <p:ph idx="1"/>
            <p:extLst>
              <p:ext uri="{D42A27DB-BD31-4B8C-83A1-F6EECF244321}">
                <p14:modId xmlns:p14="http://schemas.microsoft.com/office/powerpoint/2010/main" val="924599167"/>
              </p:ext>
            </p:extLst>
          </p:nvPr>
        </p:nvGraphicFramePr>
        <p:xfrm>
          <a:off x="1096963" y="1846263"/>
          <a:ext cx="10058400" cy="4022725"/>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FEF68EF0-C6B1-5783-7F93-A47D36877B28}"/>
              </a:ext>
            </a:extLst>
          </p:cNvPr>
          <p:cNvSpPr txBox="1"/>
          <p:nvPr/>
        </p:nvSpPr>
        <p:spPr>
          <a:xfrm>
            <a:off x="2932040" y="5806966"/>
            <a:ext cx="6327919" cy="523220"/>
          </a:xfrm>
          <a:prstGeom prst="rect">
            <a:avLst/>
          </a:prstGeom>
          <a:solidFill>
            <a:schemeClr val="bg2">
              <a:lumMod val="75000"/>
            </a:schemeClr>
          </a:solidFill>
        </p:spPr>
        <p:txBody>
          <a:bodyPr wrap="square" rtlCol="0">
            <a:spAutoFit/>
          </a:bodyPr>
          <a:lstStyle/>
          <a:p>
            <a:r>
              <a:rPr lang="en-US" sz="1400" dirty="0">
                <a:latin typeface="Times New Roman" panose="02020603050405020304" pitchFamily="18" charset="0"/>
                <a:cs typeface="Times New Roman" panose="02020603050405020304" pitchFamily="18" charset="0"/>
              </a:rPr>
              <a:t>The North and East Regions dominated the top two positions in both sales and profit while South and West also took the bottom two across metrics </a:t>
            </a:r>
          </a:p>
        </p:txBody>
      </p:sp>
    </p:spTree>
    <p:extLst>
      <p:ext uri="{BB962C8B-B14F-4D97-AF65-F5344CB8AC3E}">
        <p14:creationId xmlns:p14="http://schemas.microsoft.com/office/powerpoint/2010/main" val="3549032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9DC42-9101-4918-9AA8-8334C314583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DISCOUNTS BY REGIONS</a:t>
            </a:r>
          </a:p>
        </p:txBody>
      </p:sp>
      <p:pic>
        <p:nvPicPr>
          <p:cNvPr id="7" name="Content Placeholder 6">
            <a:extLst>
              <a:ext uri="{FF2B5EF4-FFF2-40B4-BE49-F238E27FC236}">
                <a16:creationId xmlns:a16="http://schemas.microsoft.com/office/drawing/2014/main" id="{2B92FA08-DC1A-4D1F-9BEF-B948846F5C8C}"/>
              </a:ext>
            </a:extLst>
          </p:cNvPr>
          <p:cNvPicPr>
            <a:picLocks noGrp="1" noChangeAspect="1"/>
          </p:cNvPicPr>
          <p:nvPr>
            <p:ph idx="1"/>
          </p:nvPr>
        </p:nvPicPr>
        <p:blipFill>
          <a:blip r:embed="rId2"/>
          <a:stretch>
            <a:fillRect/>
          </a:stretch>
        </p:blipFill>
        <p:spPr>
          <a:xfrm>
            <a:off x="2883354" y="1846263"/>
            <a:ext cx="6485617" cy="4022725"/>
          </a:xfrm>
          <a:prstGeom prst="rect">
            <a:avLst/>
          </a:prstGeom>
        </p:spPr>
      </p:pic>
      <p:sp>
        <p:nvSpPr>
          <p:cNvPr id="8" name="TextBox 7">
            <a:extLst>
              <a:ext uri="{FF2B5EF4-FFF2-40B4-BE49-F238E27FC236}">
                <a16:creationId xmlns:a16="http://schemas.microsoft.com/office/drawing/2014/main" id="{89CB1771-C23A-4FE2-B075-4C753DACAB10}"/>
              </a:ext>
            </a:extLst>
          </p:cNvPr>
          <p:cNvSpPr txBox="1"/>
          <p:nvPr/>
        </p:nvSpPr>
        <p:spPr>
          <a:xfrm>
            <a:off x="261022" y="5868988"/>
            <a:ext cx="5244663" cy="369332"/>
          </a:xfrm>
          <a:prstGeom prst="rect">
            <a:avLst/>
          </a:prstGeom>
          <a:solidFill>
            <a:schemeClr val="bg2">
              <a:lumMod val="75000"/>
            </a:schemeClr>
          </a:solidFill>
        </p:spPr>
        <p:txBody>
          <a:bodyPr wrap="square" rtlCol="0">
            <a:spAutoFit/>
          </a:bodyPr>
          <a:lstStyle/>
          <a:p>
            <a:r>
              <a:rPr lang="en-US" dirty="0">
                <a:latin typeface="Times New Roman" panose="02020603050405020304" pitchFamily="18" charset="0"/>
                <a:cs typeface="Times New Roman" panose="02020603050405020304" pitchFamily="18" charset="0"/>
              </a:rPr>
              <a:t>The North received higher discounts as well. </a:t>
            </a:r>
          </a:p>
        </p:txBody>
      </p:sp>
    </p:spTree>
    <p:extLst>
      <p:ext uri="{BB962C8B-B14F-4D97-AF65-F5344CB8AC3E}">
        <p14:creationId xmlns:p14="http://schemas.microsoft.com/office/powerpoint/2010/main" val="2396552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DB507-45F1-E301-F965-20FB846E2705}"/>
              </a:ext>
            </a:extLst>
          </p:cNvPr>
          <p:cNvSpPr>
            <a:spLocks noGrp="1"/>
          </p:cNvSpPr>
          <p:nvPr>
            <p:ph type="title"/>
          </p:nvPr>
        </p:nvSpPr>
        <p:spPr>
          <a:xfrm>
            <a:off x="1719943" y="624110"/>
            <a:ext cx="10134600" cy="1053415"/>
          </a:xfrm>
        </p:spPr>
        <p:txBody>
          <a:bodyPr>
            <a:normAutofit fontScale="90000"/>
          </a:bodyPr>
          <a:lstStyle/>
          <a:p>
            <a:r>
              <a:rPr lang="en-US" dirty="0">
                <a:latin typeface="Times New Roman" panose="02020603050405020304" pitchFamily="18" charset="0"/>
                <a:cs typeface="Times New Roman" panose="02020603050405020304" pitchFamily="18" charset="0"/>
              </a:rPr>
              <a:t>TOP 10 PRODUCTS FROM SALES AND PROFITS</a:t>
            </a:r>
          </a:p>
        </p:txBody>
      </p:sp>
      <p:graphicFrame>
        <p:nvGraphicFramePr>
          <p:cNvPr id="4" name="Content Placeholder 3">
            <a:extLst>
              <a:ext uri="{FF2B5EF4-FFF2-40B4-BE49-F238E27FC236}">
                <a16:creationId xmlns:a16="http://schemas.microsoft.com/office/drawing/2014/main" id="{233C6E8C-D2CE-692B-EF5B-58EBA0A124CE}"/>
              </a:ext>
            </a:extLst>
          </p:cNvPr>
          <p:cNvGraphicFramePr>
            <a:graphicFrameLocks noGrp="1"/>
          </p:cNvGraphicFramePr>
          <p:nvPr>
            <p:ph idx="1"/>
            <p:extLst>
              <p:ext uri="{D42A27DB-BD31-4B8C-83A1-F6EECF244321}">
                <p14:modId xmlns:p14="http://schemas.microsoft.com/office/powerpoint/2010/main" val="1364257209"/>
              </p:ext>
            </p:extLst>
          </p:nvPr>
        </p:nvGraphicFramePr>
        <p:xfrm>
          <a:off x="1944414" y="1828800"/>
          <a:ext cx="8692055" cy="385445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B2282593-3A2F-51EF-1336-13BB80ECD5E3}"/>
              </a:ext>
            </a:extLst>
          </p:cNvPr>
          <p:cNvSpPr txBox="1"/>
          <p:nvPr/>
        </p:nvSpPr>
        <p:spPr>
          <a:xfrm>
            <a:off x="2606259" y="5805621"/>
            <a:ext cx="7368363" cy="523220"/>
          </a:xfrm>
          <a:prstGeom prst="rect">
            <a:avLst/>
          </a:prstGeom>
          <a:solidFill>
            <a:schemeClr val="bg2">
              <a:lumMod val="75000"/>
            </a:schemeClr>
          </a:solidFill>
        </p:spPr>
        <p:txBody>
          <a:bodyPr wrap="square" rtlCol="0">
            <a:spAutoFit/>
          </a:bodyPr>
          <a:lstStyle/>
          <a:p>
            <a:r>
              <a:rPr lang="en-GB" sz="1400" dirty="0">
                <a:latin typeface="Times New Roman" panose="02020603050405020304" pitchFamily="18" charset="0"/>
                <a:cs typeface="Times New Roman" panose="02020603050405020304" pitchFamily="18" charset="0"/>
              </a:rPr>
              <a:t>Top selling items do not always translate to top profits. Some products (e.g., Lamp </a:t>
            </a:r>
            <a:r>
              <a:rPr lang="en-GB" sz="1400" dirty="0" err="1">
                <a:latin typeface="Times New Roman" panose="02020603050405020304" pitchFamily="18" charset="0"/>
                <a:cs typeface="Times New Roman" panose="02020603050405020304" pitchFamily="18" charset="0"/>
              </a:rPr>
              <a:t>Enim</a:t>
            </a:r>
            <a:r>
              <a:rPr lang="en-GB" sz="1400" dirty="0">
                <a:latin typeface="Times New Roman" panose="02020603050405020304" pitchFamily="18" charset="0"/>
                <a:cs typeface="Times New Roman" panose="02020603050405020304" pitchFamily="18" charset="0"/>
              </a:rPr>
              <a:t>, Bed </a:t>
            </a:r>
            <a:r>
              <a:rPr lang="en-GB" sz="1400" dirty="0" err="1">
                <a:latin typeface="Times New Roman" panose="02020603050405020304" pitchFamily="18" charset="0"/>
                <a:cs typeface="Times New Roman" panose="02020603050405020304" pitchFamily="18" charset="0"/>
              </a:rPr>
              <a:t>Tenetur</a:t>
            </a:r>
            <a:r>
              <a:rPr lang="en-GB" sz="1400" dirty="0">
                <a:latin typeface="Times New Roman" panose="02020603050405020304" pitchFamily="18" charset="0"/>
                <a:cs typeface="Times New Roman" panose="02020603050405020304" pitchFamily="18" charset="0"/>
              </a:rPr>
              <a:t>, Spices) appear in top sales but not top profit, showing low margins.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5636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64BB-F7B2-43A5-8537-47670B835BD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DISCOUNT PER TOP 10 PRODUCTS</a:t>
            </a:r>
          </a:p>
        </p:txBody>
      </p:sp>
      <p:pic>
        <p:nvPicPr>
          <p:cNvPr id="4" name="Content Placeholder 3">
            <a:extLst>
              <a:ext uri="{FF2B5EF4-FFF2-40B4-BE49-F238E27FC236}">
                <a16:creationId xmlns:a16="http://schemas.microsoft.com/office/drawing/2014/main" id="{5D245F81-8B5B-478D-8DF6-0CB627F62EB5}"/>
              </a:ext>
            </a:extLst>
          </p:cNvPr>
          <p:cNvPicPr>
            <a:picLocks noGrp="1" noChangeAspect="1"/>
          </p:cNvPicPr>
          <p:nvPr>
            <p:ph idx="1"/>
          </p:nvPr>
        </p:nvPicPr>
        <p:blipFill>
          <a:blip r:embed="rId2"/>
          <a:stretch>
            <a:fillRect/>
          </a:stretch>
        </p:blipFill>
        <p:spPr>
          <a:xfrm>
            <a:off x="1650124" y="1870841"/>
            <a:ext cx="8734097" cy="3657600"/>
          </a:xfrm>
          <a:prstGeom prst="rect">
            <a:avLst/>
          </a:prstGeom>
        </p:spPr>
      </p:pic>
      <p:sp>
        <p:nvSpPr>
          <p:cNvPr id="5" name="TextBox 4">
            <a:extLst>
              <a:ext uri="{FF2B5EF4-FFF2-40B4-BE49-F238E27FC236}">
                <a16:creationId xmlns:a16="http://schemas.microsoft.com/office/drawing/2014/main" id="{CCC89F15-D8EB-4C63-90D0-2AB3D783BBF2}"/>
              </a:ext>
            </a:extLst>
          </p:cNvPr>
          <p:cNvSpPr txBox="1"/>
          <p:nvPr/>
        </p:nvSpPr>
        <p:spPr>
          <a:xfrm>
            <a:off x="869731" y="5688752"/>
            <a:ext cx="6214241" cy="523220"/>
          </a:xfrm>
          <a:prstGeom prst="rect">
            <a:avLst/>
          </a:prstGeom>
          <a:solidFill>
            <a:schemeClr val="bg2">
              <a:lumMod val="75000"/>
            </a:schemeClr>
          </a:solidFill>
        </p:spPr>
        <p:txBody>
          <a:bodyPr wrap="square" rtlCol="0">
            <a:spAutoFit/>
          </a:bodyPr>
          <a:lstStyle/>
          <a:p>
            <a:r>
              <a:rPr lang="en-GB" sz="1400" b="0" dirty="0">
                <a:solidFill>
                  <a:srgbClr val="000000"/>
                </a:solidFill>
                <a:effectLst/>
                <a:latin typeface="Times New Roman" panose="02020603050405020304" pitchFamily="18" charset="0"/>
                <a:cs typeface="Times New Roman" panose="02020603050405020304" pitchFamily="18" charset="0"/>
              </a:rPr>
              <a:t>Chair </a:t>
            </a:r>
            <a:r>
              <a:rPr lang="en-GB" sz="1400" b="0" dirty="0" err="1">
                <a:solidFill>
                  <a:srgbClr val="000000"/>
                </a:solidFill>
                <a:effectLst/>
                <a:latin typeface="Times New Roman" panose="02020603050405020304" pitchFamily="18" charset="0"/>
                <a:cs typeface="Times New Roman" panose="02020603050405020304" pitchFamily="18" charset="0"/>
              </a:rPr>
              <a:t>Adipisci</a:t>
            </a:r>
            <a:r>
              <a:rPr lang="en-GB" sz="1400" b="0" dirty="0">
                <a:solidFill>
                  <a:srgbClr val="000000"/>
                </a:solidFill>
                <a:effectLst/>
                <a:latin typeface="Times New Roman" panose="02020603050405020304" pitchFamily="18" charset="0"/>
                <a:cs typeface="Times New Roman" panose="02020603050405020304" pitchFamily="18" charset="0"/>
              </a:rPr>
              <a:t> </a:t>
            </a:r>
            <a:r>
              <a:rPr lang="en-GB" sz="1400" b="0" dirty="0" err="1">
                <a:solidFill>
                  <a:srgbClr val="000000"/>
                </a:solidFill>
                <a:effectLst/>
                <a:latin typeface="Times New Roman" panose="02020603050405020304" pitchFamily="18" charset="0"/>
                <a:cs typeface="Times New Roman" panose="02020603050405020304" pitchFamily="18" charset="0"/>
              </a:rPr>
              <a:t>recieved</a:t>
            </a:r>
            <a:r>
              <a:rPr lang="en-GB" sz="1400" b="0" dirty="0">
                <a:solidFill>
                  <a:srgbClr val="000000"/>
                </a:solidFill>
                <a:effectLst/>
                <a:latin typeface="Times New Roman" panose="02020603050405020304" pitchFamily="18" charset="0"/>
                <a:cs typeface="Times New Roman" panose="02020603050405020304" pitchFamily="18" charset="0"/>
              </a:rPr>
              <a:t> highest discount but it is missing in top 10 products for both sales and profit. </a:t>
            </a:r>
          </a:p>
        </p:txBody>
      </p:sp>
    </p:spTree>
    <p:extLst>
      <p:ext uri="{BB962C8B-B14F-4D97-AF65-F5344CB8AC3E}">
        <p14:creationId xmlns:p14="http://schemas.microsoft.com/office/powerpoint/2010/main" val="770534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5FA82-8E3C-4B08-87BE-AE9BAFEDF4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MONTHLY SALES TREND</a:t>
            </a:r>
          </a:p>
        </p:txBody>
      </p:sp>
      <p:pic>
        <p:nvPicPr>
          <p:cNvPr id="4098" name="Picture 2">
            <a:extLst>
              <a:ext uri="{FF2B5EF4-FFF2-40B4-BE49-F238E27FC236}">
                <a16:creationId xmlns:a16="http://schemas.microsoft.com/office/drawing/2014/main" id="{FE06928C-5356-F09C-5343-FF636A1B36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5" y="1923393"/>
            <a:ext cx="8261055" cy="3810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919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4CD0-1364-0274-1444-BC83B145EA2B}"/>
              </a:ext>
            </a:extLst>
          </p:cNvPr>
          <p:cNvSpPr>
            <a:spLocks noGrp="1"/>
          </p:cNvSpPr>
          <p:nvPr>
            <p:ph type="title"/>
          </p:nvPr>
        </p:nvSpPr>
        <p:spPr>
          <a:xfrm>
            <a:off x="838200" y="365125"/>
            <a:ext cx="10515600" cy="1022241"/>
          </a:xfrm>
        </p:spPr>
        <p:txBody>
          <a:bodyPr>
            <a:normAutofit fontScale="90000"/>
          </a:bodyPr>
          <a:lstStyle/>
          <a:p>
            <a:r>
              <a:rPr lang="en-US" dirty="0">
                <a:latin typeface="Times New Roman" panose="02020603050405020304" pitchFamily="18" charset="0"/>
                <a:cs typeface="Times New Roman" panose="02020603050405020304" pitchFamily="18" charset="0"/>
              </a:rPr>
              <a:t>MONTHLY TREND BY SALES AND PROFIT</a:t>
            </a:r>
          </a:p>
        </p:txBody>
      </p:sp>
      <p:pic>
        <p:nvPicPr>
          <p:cNvPr id="5122" name="Picture 2">
            <a:extLst>
              <a:ext uri="{FF2B5EF4-FFF2-40B4-BE49-F238E27FC236}">
                <a16:creationId xmlns:a16="http://schemas.microsoft.com/office/drawing/2014/main" id="{B4B5CBFC-97ED-7540-B8DF-FF53E713FB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11474" y="1954924"/>
            <a:ext cx="8769052" cy="340535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AAEC406-02F2-2849-AB96-F123221B4C6E}"/>
              </a:ext>
            </a:extLst>
          </p:cNvPr>
          <p:cNvSpPr txBox="1"/>
          <p:nvPr/>
        </p:nvSpPr>
        <p:spPr>
          <a:xfrm>
            <a:off x="2780362" y="5548336"/>
            <a:ext cx="7282543" cy="646331"/>
          </a:xfrm>
          <a:prstGeom prst="rect">
            <a:avLst/>
          </a:prstGeom>
          <a:solidFill>
            <a:schemeClr val="bg2">
              <a:lumMod val="75000"/>
            </a:schemeClr>
          </a:solidFill>
        </p:spPr>
        <p:txBody>
          <a:bodyPr wrap="square" rtlCol="0">
            <a:spAutoFit/>
          </a:bodyPr>
          <a:lstStyle/>
          <a:p>
            <a:r>
              <a:rPr lang="en-US" dirty="0">
                <a:latin typeface="Times New Roman" panose="02020603050405020304" pitchFamily="18" charset="0"/>
                <a:cs typeface="Times New Roman" panose="02020603050405020304" pitchFamily="18" charset="0"/>
              </a:rPr>
              <a:t>Monthly trends showing seasonality of how sales and profit fluctuate overtime. </a:t>
            </a:r>
            <a:r>
              <a:rPr lang="en-GB" dirty="0">
                <a:latin typeface="Times New Roman" panose="02020603050405020304" pitchFamily="18" charset="0"/>
                <a:cs typeface="Times New Roman" panose="02020603050405020304" pitchFamily="18" charset="0"/>
              </a:rPr>
              <a:t>Both sales and profit follow the same seasonal pattern.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1734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7250E-0A3F-DEB6-A337-3B131F2C80A5}"/>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DISCOUNT AND PROFIT PER CATEGORY</a:t>
            </a:r>
          </a:p>
        </p:txBody>
      </p:sp>
      <p:pic>
        <p:nvPicPr>
          <p:cNvPr id="6" name="Content Placeholder 5">
            <a:extLst>
              <a:ext uri="{FF2B5EF4-FFF2-40B4-BE49-F238E27FC236}">
                <a16:creationId xmlns:a16="http://schemas.microsoft.com/office/drawing/2014/main" id="{C2CCED98-CE67-AC1C-F077-C4803A9B9F02}"/>
              </a:ext>
            </a:extLst>
          </p:cNvPr>
          <p:cNvPicPr>
            <a:picLocks noGrp="1" noChangeAspect="1"/>
          </p:cNvPicPr>
          <p:nvPr>
            <p:ph sz="half" idx="2"/>
          </p:nvPr>
        </p:nvPicPr>
        <p:blipFill>
          <a:blip r:embed="rId2"/>
          <a:stretch>
            <a:fillRect/>
          </a:stretch>
        </p:blipFill>
        <p:spPr>
          <a:xfrm>
            <a:off x="660478" y="1880968"/>
            <a:ext cx="5314020" cy="3096064"/>
          </a:xfrm>
          <a:prstGeom prst="rect">
            <a:avLst/>
          </a:prstGeom>
        </p:spPr>
      </p:pic>
      <p:pic>
        <p:nvPicPr>
          <p:cNvPr id="13" name="Content Placeholder 12">
            <a:extLst>
              <a:ext uri="{FF2B5EF4-FFF2-40B4-BE49-F238E27FC236}">
                <a16:creationId xmlns:a16="http://schemas.microsoft.com/office/drawing/2014/main" id="{27FEBE6E-2CB5-8133-F832-3569619A7A6C}"/>
              </a:ext>
            </a:extLst>
          </p:cNvPr>
          <p:cNvPicPr>
            <a:picLocks noGrp="1" noChangeAspect="1"/>
          </p:cNvPicPr>
          <p:nvPr>
            <p:ph sz="quarter" idx="4"/>
          </p:nvPr>
        </p:nvPicPr>
        <p:blipFill>
          <a:blip r:embed="rId3"/>
          <a:stretch>
            <a:fillRect/>
          </a:stretch>
        </p:blipFill>
        <p:spPr>
          <a:xfrm>
            <a:off x="6217504" y="1880968"/>
            <a:ext cx="5314018" cy="3684588"/>
          </a:xfrm>
          <a:prstGeom prst="rect">
            <a:avLst/>
          </a:prstGeom>
        </p:spPr>
      </p:pic>
      <p:sp>
        <p:nvSpPr>
          <p:cNvPr id="11" name="TextBox 10">
            <a:extLst>
              <a:ext uri="{FF2B5EF4-FFF2-40B4-BE49-F238E27FC236}">
                <a16:creationId xmlns:a16="http://schemas.microsoft.com/office/drawing/2014/main" id="{6DBC7295-E540-94AF-0230-0694FE587CCE}"/>
              </a:ext>
            </a:extLst>
          </p:cNvPr>
          <p:cNvSpPr txBox="1"/>
          <p:nvPr/>
        </p:nvSpPr>
        <p:spPr>
          <a:xfrm>
            <a:off x="3317488" y="5565556"/>
            <a:ext cx="6054043" cy="646331"/>
          </a:xfrm>
          <a:prstGeom prst="rect">
            <a:avLst/>
          </a:prstGeom>
          <a:solidFill>
            <a:schemeClr val="bg2">
              <a:lumMod val="75000"/>
            </a:schemeClr>
          </a:solidFill>
          <a:ln>
            <a:solidFill>
              <a:schemeClr val="tx1"/>
            </a:solidFill>
          </a:ln>
        </p:spPr>
        <p:txBody>
          <a:bodyPr wrap="square" rtlCol="0">
            <a:spAutoFit/>
          </a:bodyPr>
          <a:lstStyle/>
          <a:p>
            <a:r>
              <a:rPr lang="en-US" sz="1200" dirty="0">
                <a:latin typeface="Times New Roman" panose="02020603050405020304" pitchFamily="18" charset="0"/>
                <a:cs typeface="Times New Roman" panose="02020603050405020304" pitchFamily="18" charset="0"/>
              </a:rPr>
              <a:t>From the graphs above, high discounts on furniture and kitchen translated into high profits while low discounts on Electronics translated into high profits. Despite Kitchen receiving highest discounts, it didn’t translate into making the highest profits.</a:t>
            </a:r>
            <a:r>
              <a:rPr lang="en-GB" sz="12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0978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8434A-08EC-9F93-8C59-5CA12DE3B77A}"/>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CORRELATION BETWEEN DISCOUNT AND PROFIT</a:t>
            </a:r>
          </a:p>
        </p:txBody>
      </p:sp>
      <p:pic>
        <p:nvPicPr>
          <p:cNvPr id="2050" name="Picture 2">
            <a:extLst>
              <a:ext uri="{FF2B5EF4-FFF2-40B4-BE49-F238E27FC236}">
                <a16:creationId xmlns:a16="http://schemas.microsoft.com/office/drawing/2014/main" id="{AE2B8431-99E7-846E-FBF0-756431CB806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18857" y="1905000"/>
            <a:ext cx="4638997" cy="341986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B9AE242-9A23-518A-B15F-B58C7CFD1363}"/>
              </a:ext>
            </a:extLst>
          </p:cNvPr>
          <p:cNvSpPr txBox="1"/>
          <p:nvPr/>
        </p:nvSpPr>
        <p:spPr>
          <a:xfrm>
            <a:off x="3213410" y="5519057"/>
            <a:ext cx="6224504" cy="738664"/>
          </a:xfrm>
          <a:prstGeom prst="rect">
            <a:avLst/>
          </a:prstGeom>
          <a:solidFill>
            <a:schemeClr val="bg2">
              <a:lumMod val="75000"/>
            </a:schemeClr>
          </a:solidFill>
          <a:ln>
            <a:solidFill>
              <a:schemeClr val="tx1"/>
            </a:solidFill>
          </a:ln>
        </p:spPr>
        <p:txBody>
          <a:bodyPr wrap="square" rtlCol="0">
            <a:spAutoFit/>
          </a:bodyPr>
          <a:lstStyle/>
          <a:p>
            <a:r>
              <a:rPr lang="en-GB" sz="1400" dirty="0">
                <a:latin typeface="Times New Roman" panose="02020603050405020304" pitchFamily="18" charset="0"/>
                <a:cs typeface="Times New Roman" panose="02020603050405020304" pitchFamily="18" charset="0"/>
              </a:rPr>
              <a:t>The correlation between Discount and Profit is –0.089, indicating a very weak negative relationship, meaning that higher discounts are associated with slightly lower profits, but the effect is minimal.</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8805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58FAE-4206-CF43-5440-1A9641B15EBA}"/>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EFFECTS OF DISCOUNT ON PROFIT</a:t>
            </a:r>
            <a:br>
              <a:rPr lang="en-US" dirty="0"/>
            </a:br>
            <a:endParaRPr lang="en-US" dirty="0"/>
          </a:p>
        </p:txBody>
      </p:sp>
      <p:pic>
        <p:nvPicPr>
          <p:cNvPr id="5" name="Content Placeholder 4">
            <a:extLst>
              <a:ext uri="{FF2B5EF4-FFF2-40B4-BE49-F238E27FC236}">
                <a16:creationId xmlns:a16="http://schemas.microsoft.com/office/drawing/2014/main" id="{48A68118-00DD-F10D-BB96-B9860A243018}"/>
              </a:ext>
            </a:extLst>
          </p:cNvPr>
          <p:cNvPicPr>
            <a:picLocks noGrp="1" noChangeAspect="1"/>
          </p:cNvPicPr>
          <p:nvPr>
            <p:ph idx="1"/>
          </p:nvPr>
        </p:nvPicPr>
        <p:blipFill>
          <a:blip r:embed="rId2"/>
          <a:stretch>
            <a:fillRect/>
          </a:stretch>
        </p:blipFill>
        <p:spPr>
          <a:xfrm>
            <a:off x="2111829" y="1881352"/>
            <a:ext cx="8254169" cy="3485305"/>
          </a:xfrm>
          <a:prstGeom prst="rect">
            <a:avLst/>
          </a:prstGeom>
        </p:spPr>
      </p:pic>
      <p:sp>
        <p:nvSpPr>
          <p:cNvPr id="8" name="TextBox 6">
            <a:extLst>
              <a:ext uri="{FF2B5EF4-FFF2-40B4-BE49-F238E27FC236}">
                <a16:creationId xmlns:a16="http://schemas.microsoft.com/office/drawing/2014/main" id="{E06B47CC-0D08-AD8E-1DF7-CE3A7DB9F496}"/>
              </a:ext>
            </a:extLst>
          </p:cNvPr>
          <p:cNvSpPr txBox="1"/>
          <p:nvPr/>
        </p:nvSpPr>
        <p:spPr>
          <a:xfrm>
            <a:off x="3084244" y="5576113"/>
            <a:ext cx="6309337" cy="688052"/>
          </a:xfrm>
          <a:prstGeom prst="rect">
            <a:avLst/>
          </a:prstGeom>
          <a:solidFill>
            <a:schemeClr val="bg2">
              <a:lumMod val="75000"/>
            </a:schemeClr>
          </a:solidFill>
          <a:ln w="9525" cmpd="sng">
            <a:solidFill>
              <a:schemeClr val="tx1"/>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400" dirty="0">
                <a:latin typeface="Times New Roman" panose="02020603050405020304" pitchFamily="18" charset="0"/>
                <a:cs typeface="Times New Roman" panose="02020603050405020304" pitchFamily="18" charset="0"/>
              </a:rPr>
              <a:t>It</a:t>
            </a:r>
            <a:r>
              <a:rPr lang="en-US" sz="1400" baseline="0" dirty="0">
                <a:latin typeface="Times New Roman" panose="02020603050405020304" pitchFamily="18" charset="0"/>
                <a:cs typeface="Times New Roman" panose="02020603050405020304" pitchFamily="18" charset="0"/>
              </a:rPr>
              <a:t> must be noted that highest discounts has a negative relationship with profit. From the diagram it is shown that as the discount percentage increases, discount decreases. </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135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55069-8C25-EA28-8E5A-C806EECC81C4}"/>
              </a:ext>
            </a:extLst>
          </p:cNvPr>
          <p:cNvSpPr>
            <a:spLocks noGrp="1"/>
          </p:cNvSpPr>
          <p:nvPr>
            <p:ph type="title"/>
          </p:nvPr>
        </p:nvSpPr>
        <p:spPr>
          <a:xfrm>
            <a:off x="1640153" y="551207"/>
            <a:ext cx="8911687" cy="851337"/>
          </a:xfrm>
        </p:spPr>
        <p:txBody>
          <a:bodyPr>
            <a:normAutofit fontScale="90000"/>
          </a:bodyPr>
          <a:lstStyle/>
          <a:p>
            <a:r>
              <a:rPr lang="en-US" dirty="0">
                <a:latin typeface="Times New Roman" panose="02020603050405020304" pitchFamily="18" charset="0"/>
                <a:cs typeface="Times New Roman" panose="02020603050405020304" pitchFamily="18" charset="0"/>
              </a:rPr>
              <a:t>PAYMENT MODE DISTRIBUTION</a:t>
            </a:r>
            <a:br>
              <a:rPr lang="en-US" dirty="0"/>
            </a:br>
            <a:endParaRPr lang="en-US" dirty="0"/>
          </a:p>
        </p:txBody>
      </p:sp>
      <p:pic>
        <p:nvPicPr>
          <p:cNvPr id="6" name="Content Placeholder 5">
            <a:extLst>
              <a:ext uri="{FF2B5EF4-FFF2-40B4-BE49-F238E27FC236}">
                <a16:creationId xmlns:a16="http://schemas.microsoft.com/office/drawing/2014/main" id="{61AAE38B-8DBA-4409-9E83-204BD79DB601}"/>
              </a:ext>
            </a:extLst>
          </p:cNvPr>
          <p:cNvPicPr>
            <a:picLocks noGrp="1" noChangeAspect="1"/>
          </p:cNvPicPr>
          <p:nvPr>
            <p:ph idx="1"/>
          </p:nvPr>
        </p:nvPicPr>
        <p:blipFill>
          <a:blip r:embed="rId2"/>
          <a:stretch>
            <a:fillRect/>
          </a:stretch>
        </p:blipFill>
        <p:spPr>
          <a:xfrm>
            <a:off x="3182812" y="1912883"/>
            <a:ext cx="5826367" cy="3577470"/>
          </a:xfrm>
          <a:prstGeom prst="rect">
            <a:avLst/>
          </a:prstGeom>
        </p:spPr>
      </p:pic>
      <p:sp>
        <p:nvSpPr>
          <p:cNvPr id="7" name="TextBox 12">
            <a:extLst>
              <a:ext uri="{FF2B5EF4-FFF2-40B4-BE49-F238E27FC236}">
                <a16:creationId xmlns:a16="http://schemas.microsoft.com/office/drawing/2014/main" id="{CBD0D254-D6DD-773E-7E53-D8D10A6F364E}"/>
              </a:ext>
            </a:extLst>
          </p:cNvPr>
          <p:cNvSpPr txBox="1"/>
          <p:nvPr/>
        </p:nvSpPr>
        <p:spPr>
          <a:xfrm>
            <a:off x="4682272" y="5604669"/>
            <a:ext cx="3071359" cy="702124"/>
          </a:xfrm>
          <a:prstGeom prst="rect">
            <a:avLst/>
          </a:prstGeom>
          <a:solidFill>
            <a:schemeClr val="bg2">
              <a:lumMod val="75000"/>
            </a:schemeClr>
          </a:solidFill>
          <a:ln w="9525" cmpd="sng">
            <a:solidFill>
              <a:schemeClr val="tx1"/>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Net Banking recorded the highest</a:t>
            </a:r>
            <a:r>
              <a:rPr lang="en-US" sz="1600" baseline="0" dirty="0">
                <a:latin typeface="Times New Roman" panose="02020603050405020304" pitchFamily="18" charset="0"/>
                <a:cs typeface="Times New Roman" panose="02020603050405020304" pitchFamily="18" charset="0"/>
              </a:rPr>
              <a:t> mode of payment for transactions. </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5346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AE81E-D140-A105-79F6-9B3A5DDDF0F7}"/>
              </a:ext>
            </a:extLst>
          </p:cNvPr>
          <p:cNvSpPr>
            <a:spLocks noGrp="1"/>
          </p:cNvSpPr>
          <p:nvPr>
            <p:ph type="title"/>
          </p:nvPr>
        </p:nvSpPr>
        <p:spPr/>
        <p:txBody>
          <a:bodyPr>
            <a:normAutofit fontScale="90000"/>
          </a:bodyPr>
          <a:lstStyle/>
          <a:p>
            <a:r>
              <a:rPr lang="en-GB" dirty="0">
                <a:latin typeface="Times New Roman" panose="02020603050405020304" pitchFamily="18" charset="0"/>
                <a:cs typeface="Times New Roman" panose="02020603050405020304" pitchFamily="18" charset="0"/>
              </a:rPr>
              <a:t>PIE CHART SHOWING PAYMENT MODE DISTRIBUTION</a:t>
            </a:r>
            <a:br>
              <a:rPr lang="en-GB" dirty="0"/>
            </a:br>
            <a:endParaRPr lang="en-US" dirty="0"/>
          </a:p>
        </p:txBody>
      </p:sp>
      <p:pic>
        <p:nvPicPr>
          <p:cNvPr id="4" name="Content Placeholder 3">
            <a:extLst>
              <a:ext uri="{FF2B5EF4-FFF2-40B4-BE49-F238E27FC236}">
                <a16:creationId xmlns:a16="http://schemas.microsoft.com/office/drawing/2014/main" id="{E81BA1EE-33AA-5471-CF00-3B1530C3D707}"/>
              </a:ext>
            </a:extLst>
          </p:cNvPr>
          <p:cNvPicPr>
            <a:picLocks noGrp="1" noChangeAspect="1"/>
          </p:cNvPicPr>
          <p:nvPr>
            <p:ph idx="1"/>
          </p:nvPr>
        </p:nvPicPr>
        <p:blipFill>
          <a:blip r:embed="rId2"/>
          <a:stretch>
            <a:fillRect/>
          </a:stretch>
        </p:blipFill>
        <p:spPr>
          <a:xfrm>
            <a:off x="3824406" y="1846263"/>
            <a:ext cx="4603513" cy="4022725"/>
          </a:xfrm>
          <a:prstGeom prst="rect">
            <a:avLst/>
          </a:prstGeom>
        </p:spPr>
      </p:pic>
    </p:spTree>
    <p:extLst>
      <p:ext uri="{BB962C8B-B14F-4D97-AF65-F5344CB8AC3E}">
        <p14:creationId xmlns:p14="http://schemas.microsoft.com/office/powerpoint/2010/main" val="3283393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90113-5202-5242-9D8A-0AD4E7F7818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A16B175D-6999-C79A-DDB4-00D5D17BED76}"/>
              </a:ext>
            </a:extLst>
          </p:cNvPr>
          <p:cNvSpPr>
            <a:spLocks noGrp="1"/>
          </p:cNvSpPr>
          <p:nvPr>
            <p:ph idx="1"/>
          </p:nvPr>
        </p:nvSpPr>
        <p:spPr/>
        <p:txBody>
          <a:bodyPr>
            <a:normAutofit lnSpcReduction="10000"/>
          </a:bodyPr>
          <a:lstStyle/>
          <a:p>
            <a:pPr marL="514350" indent="-514350">
              <a:buFont typeface="+mj-lt"/>
              <a:buAutoNum type="arabicPeriod"/>
            </a:pPr>
            <a:r>
              <a:rPr lang="en-GB" dirty="0">
                <a:latin typeface="Times New Roman" panose="02020603050405020304" pitchFamily="18" charset="0"/>
                <a:cs typeface="Times New Roman" panose="02020603050405020304" pitchFamily="18" charset="0"/>
              </a:rPr>
              <a:t>Higher discount percentages significantly boosted sales volume but reduced overall profit.</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Some regions consistently outperformed others in both sales and profit, indicating strong market opportunities.</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The South and West were bottom two in both sales and profit as well as discounts while North and East were top two across board.  </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Monthly sales trends revealed clear seasonality, with certain months showing peak performance.</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Customers preferred specific payment modes often linked with higher order value.</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Several products consistently appeared in the low-sales and low-profit category.</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Profit did not always align with sales some categories with high revenue had poor profit margins.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180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D2073-16B2-3D19-DEE9-C7B98741AF10}"/>
              </a:ext>
            </a:extLst>
          </p:cNvPr>
          <p:cNvSpPr>
            <a:spLocks noGrp="1"/>
          </p:cNvSpPr>
          <p:nvPr>
            <p:ph type="title"/>
          </p:nvPr>
        </p:nvSpPr>
        <p:spPr>
          <a:xfrm>
            <a:off x="1110966" y="804974"/>
            <a:ext cx="8911687" cy="823396"/>
          </a:xfrm>
        </p:spPr>
        <p:txBody>
          <a:bodyPr>
            <a:normAutofit/>
          </a:bodyPr>
          <a:lstStyle/>
          <a:p>
            <a:r>
              <a:rPr lang="en-US" dirty="0">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3CB8EB79-A6FE-EF74-DD1D-D7A066B7958F}"/>
              </a:ext>
            </a:extLst>
          </p:cNvPr>
          <p:cNvSpPr>
            <a:spLocks noGrp="1"/>
          </p:cNvSpPr>
          <p:nvPr>
            <p:ph idx="1"/>
          </p:nvPr>
        </p:nvSpPr>
        <p:spPr>
          <a:xfrm>
            <a:off x="998483" y="1818291"/>
            <a:ext cx="10506129" cy="4403834"/>
          </a:xfrm>
        </p:spPr>
        <p:txBody>
          <a:bodyPr>
            <a:noAutofit/>
          </a:bodyPr>
          <a:lstStyle/>
          <a:p>
            <a:pPr marL="0" marR="0">
              <a:lnSpc>
                <a:spcPct val="107000"/>
              </a:lnSpc>
              <a:spcBef>
                <a:spcPts val="0"/>
              </a:spcBef>
              <a:spcAft>
                <a:spcPts val="800"/>
              </a:spcAft>
            </a:pPr>
            <a:r>
              <a:rPr lang="en-GB" sz="1400" b="1" dirty="0">
                <a:effectLst/>
                <a:latin typeface="Times New Roman" panose="02020603050405020304" pitchFamily="18" charset="0"/>
                <a:ea typeface="Calibri" panose="020F0502020204030204" pitchFamily="34" charset="0"/>
                <a:cs typeface="Times New Roman" panose="02020603050405020304" pitchFamily="18" charset="0"/>
              </a:rPr>
              <a:t>1. Refine Discount Strategy</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Reduce or eliminate discounts on high-demand, high-profit categories (Furniture, Electronics). Apply targeted discounts only to products with slow-moving inventory, seasonal demand, or naturally low margins. Re-evaluate the discount-heavy approach in Guwahati, as it artificially inflates sales but reduces profit.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400" b="1" dirty="0">
                <a:effectLst/>
                <a:latin typeface="Times New Roman" panose="02020603050405020304" pitchFamily="18" charset="0"/>
                <a:ea typeface="Calibri" panose="020F0502020204030204" pitchFamily="34" charset="0"/>
                <a:cs typeface="Times New Roman" panose="02020603050405020304" pitchFamily="18" charset="0"/>
              </a:rPr>
              <a:t>2. Strengthen Underperforming Regions</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Invest in market development campaigns for South and West regions, introduce regional promotions based on customer behaviour and seasonal demand improve distribution efficiency and product availability in weak regions.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400" b="1" dirty="0">
                <a:effectLst/>
                <a:latin typeface="Times New Roman" panose="02020603050405020304" pitchFamily="18" charset="0"/>
                <a:ea typeface="Calibri" panose="020F0502020204030204" pitchFamily="34" charset="0"/>
                <a:cs typeface="Times New Roman" panose="02020603050405020304" pitchFamily="18" charset="0"/>
              </a:rPr>
              <a:t>3. Focus on High Value Cities</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Increase inventory allocation in Lucknow, Bangalore, and Guwahati. Introduce loyalty programs for repeat customers in these top-performing markets.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400" b="1" dirty="0">
                <a:effectLst/>
                <a:latin typeface="Times New Roman" panose="02020603050405020304" pitchFamily="18" charset="0"/>
                <a:ea typeface="Calibri" panose="020F0502020204030204" pitchFamily="34" charset="0"/>
                <a:cs typeface="Times New Roman" panose="02020603050405020304" pitchFamily="18" charset="0"/>
              </a:rPr>
              <a:t>4. Product Level Optimization</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Re-price or repackage products that sell well but deliver low profit (e.g., Home Decor, Lamps, Beds) and promote bundles for low selling items to increase visibility and demand.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400" b="1" dirty="0">
                <a:effectLst/>
                <a:latin typeface="Times New Roman" panose="02020603050405020304" pitchFamily="18" charset="0"/>
                <a:ea typeface="Calibri" panose="020F0502020204030204" pitchFamily="34" charset="0"/>
                <a:cs typeface="Times New Roman" panose="02020603050405020304" pitchFamily="18" charset="0"/>
              </a:rPr>
              <a:t>5. Seasonal Marketing Strategy</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Launch major marketing campaigns in low-performing months</a:t>
            </a:r>
            <a:br>
              <a:rPr lang="en-GB" sz="1400" dirty="0">
                <a:effectLst/>
                <a:latin typeface="Times New Roman" panose="02020603050405020304" pitchFamily="18" charset="0"/>
                <a:ea typeface="Calibri" panose="020F0502020204030204" pitchFamily="34" charset="0"/>
                <a:cs typeface="Times New Roman" panose="02020603050405020304" pitchFamily="18" charset="0"/>
              </a:rPr>
            </a:b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January, February, March, April, June, and September and also plan inventory and promotions ahead of peak months to maximize revenue.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400" b="1" dirty="0">
                <a:effectLst/>
                <a:latin typeface="Times New Roman" panose="02020603050405020304" pitchFamily="18" charset="0"/>
                <a:ea typeface="Calibri" panose="020F0502020204030204" pitchFamily="34" charset="0"/>
                <a:cs typeface="Times New Roman" panose="02020603050405020304" pitchFamily="18" charset="0"/>
              </a:rPr>
              <a:t>6. Payment Method Optimization</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Since Net Banking is most preferred, offer small cashback, loyalty points, or free delivery incentives</a:t>
            </a:r>
            <a:br>
              <a:rPr lang="en-GB" sz="1400" dirty="0">
                <a:effectLst/>
                <a:latin typeface="Times New Roman" panose="02020603050405020304" pitchFamily="18" charset="0"/>
                <a:ea typeface="Calibri" panose="020F0502020204030204" pitchFamily="34" charset="0"/>
                <a:cs typeface="Times New Roman" panose="02020603050405020304" pitchFamily="18" charset="0"/>
              </a:rPr>
            </a:b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to encourage its continued use.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400" b="1" dirty="0">
                <a:effectLst/>
                <a:latin typeface="Times New Roman" panose="02020603050405020304" pitchFamily="18" charset="0"/>
                <a:ea typeface="Calibri" panose="020F0502020204030204" pitchFamily="34" charset="0"/>
                <a:cs typeface="Times New Roman" panose="02020603050405020304" pitchFamily="18" charset="0"/>
              </a:rPr>
              <a:t>7. Improve Profit Margins</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400" dirty="0">
                <a:effectLst/>
                <a:latin typeface="Times New Roman" panose="02020603050405020304" pitchFamily="18" charset="0"/>
                <a:ea typeface="Calibri" panose="020F0502020204030204" pitchFamily="34" charset="0"/>
                <a:cs typeface="Times New Roman" panose="02020603050405020304" pitchFamily="18" charset="0"/>
              </a:rPr>
              <a:t>Re-evaluate suppliers and renegotiate prices for categories with high sales but low profit and limit discounting in categories where discount does not drive significant profit (Kitchen).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20000"/>
              </a:lnSpc>
              <a:buNone/>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141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0E8A-6CCA-AEA0-BF23-27F2FD5DE188}"/>
              </a:ext>
            </a:extLst>
          </p:cNvPr>
          <p:cNvSpPr>
            <a:spLocks noGrp="1"/>
          </p:cNvSpPr>
          <p:nvPr>
            <p:ph type="title"/>
          </p:nvPr>
        </p:nvSpPr>
        <p:spPr>
          <a:xfrm>
            <a:off x="1780695" y="954942"/>
            <a:ext cx="8911687" cy="704960"/>
          </a:xfrm>
        </p:spPr>
        <p:txBody>
          <a:bodyPr>
            <a:normAutofit fontScale="90000"/>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5884D0E-43AD-ECC7-B5E4-4B35A429ECC8}"/>
              </a:ext>
            </a:extLst>
          </p:cNvPr>
          <p:cNvSpPr>
            <a:spLocks noGrp="1"/>
          </p:cNvSpPr>
          <p:nvPr>
            <p:ph idx="1"/>
          </p:nvPr>
        </p:nvSpPr>
        <p:spPr>
          <a:xfrm>
            <a:off x="1776982" y="1849088"/>
            <a:ext cx="8915400" cy="4330995"/>
          </a:xfrm>
        </p:spPr>
        <p:txBody>
          <a:bodyPr>
            <a:noAutofit/>
          </a:bodyPr>
          <a:lstStyle/>
          <a:p>
            <a:pPr algn="just"/>
            <a:r>
              <a:rPr lang="en-GB" sz="2200" dirty="0">
                <a:latin typeface="Times New Roman" panose="02020603050405020304" pitchFamily="18" charset="0"/>
                <a:cs typeface="Times New Roman" panose="02020603050405020304" pitchFamily="18" charset="0"/>
              </a:rPr>
              <a:t>This capstone project analysed retail sales and profits using detailed transaction data across cities, regions, product categories, and time periods. The goal was to spot business patterns, identify top and low-performing areas, and see how pricing, discounts, and customer behaviour affect results.</a:t>
            </a:r>
          </a:p>
          <a:p>
            <a:pPr algn="just"/>
            <a:r>
              <a:rPr lang="en-GB" sz="2200" dirty="0">
                <a:latin typeface="Times New Roman" panose="02020603050405020304" pitchFamily="18" charset="0"/>
                <a:cs typeface="Times New Roman" panose="02020603050405020304" pitchFamily="18" charset="0"/>
              </a:rPr>
              <a:t>The analysis found that the North and East regions consistently led in sales and profit, while the South and West lagged behind. Some cities, like Lucknow, Guwahati, and Bangalore, performed strongly, whereas Thiruvananthapuram had the lowest results. Notably, high sales did not always mean high profits for example, Home Decor generated good revenue but had weaker profit margins.</a:t>
            </a:r>
          </a:p>
          <a:p>
            <a:pPr algn="just"/>
            <a:r>
              <a:rPr lang="en-GB" sz="2200" dirty="0">
                <a:latin typeface="Times New Roman" panose="02020603050405020304" pitchFamily="18" charset="0"/>
                <a:cs typeface="Times New Roman" panose="02020603050405020304" pitchFamily="18" charset="0"/>
              </a:rPr>
              <a:t>Overall, the insights help the business understand its market better and provide a foundation for smarter, data-driven decisions to boost revenue, profit, and customer engagement. </a:t>
            </a:r>
          </a:p>
        </p:txBody>
      </p:sp>
    </p:spTree>
    <p:extLst>
      <p:ext uri="{BB962C8B-B14F-4D97-AF65-F5344CB8AC3E}">
        <p14:creationId xmlns:p14="http://schemas.microsoft.com/office/powerpoint/2010/main" val="45008504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683</TotalTime>
  <Words>1304</Words>
  <Application>Microsoft Office PowerPoint</Application>
  <PresentationFormat>Widescreen</PresentationFormat>
  <Paragraphs>95</Paragraphs>
  <Slides>27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Calibri</vt:lpstr>
      <vt:lpstr>Calibri Light</vt:lpstr>
      <vt:lpstr>Times New Roman</vt:lpstr>
      <vt:lpstr>Retrospect</vt:lpstr>
      <vt:lpstr>Sales Performance and Profitability Analysis for a Retail Business </vt:lpstr>
      <vt:lpstr>INTRODUCTION</vt:lpstr>
      <vt:lpstr>OBJECTIVES </vt:lpstr>
      <vt:lpstr>DATASET</vt:lpstr>
      <vt:lpstr>Data Cleaning Performed in Excel</vt:lpstr>
      <vt:lpstr>ANALYSIS</vt:lpstr>
      <vt:lpstr>SALES AND PROFIT BY CATEGORY </vt:lpstr>
      <vt:lpstr>DISCOUNT PER CATEGORY</vt:lpstr>
      <vt:lpstr>SALES PER SUB CATEGORY</vt:lpstr>
      <vt:lpstr>PROFIT PER SUB-CATEGORY</vt:lpstr>
      <vt:lpstr>DISCOUNT BY SUB-CATEGORY</vt:lpstr>
      <vt:lpstr>SALES AND PROFIT BY CITIES </vt:lpstr>
      <vt:lpstr>DISCOUNT BY CITIES</vt:lpstr>
      <vt:lpstr>SALES &amp; PROFIT  BY REGION </vt:lpstr>
      <vt:lpstr>DISCOUNTS BY REGIONS</vt:lpstr>
      <vt:lpstr>TOP 10 PRODUCTS FROM SALES AND PROFITS</vt:lpstr>
      <vt:lpstr>DISCOUNT PER TOP 10 PRODUCTS</vt:lpstr>
      <vt:lpstr>MONTHLY SALES TREND</vt:lpstr>
      <vt:lpstr>MONTHLY TREND BY SALES AND PROFIT</vt:lpstr>
      <vt:lpstr>DISCOUNT AND PROFIT PER CATEGORY</vt:lpstr>
      <vt:lpstr>CORRELATION BETWEEN DISCOUNT AND PROFIT</vt:lpstr>
      <vt:lpstr>EFFECTS OF DISCOUNT ON PROFIT </vt:lpstr>
      <vt:lpstr>PAYMENT MODE DISTRIBUTION </vt:lpstr>
      <vt:lpstr>PIE CHART SHOWING PAYMENT MODE DISTRIBUTION </vt:lpstr>
      <vt:lpstr>KEY FINDINGS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Performance and Profitability Analysis for a Retail Business </dc:title>
  <dc:creator>RAPHAEL FLOKU AYERTEY</dc:creator>
  <cp:lastModifiedBy>RAPHAEL FLOKU AYERTEY</cp:lastModifiedBy>
  <cp:revision>31</cp:revision>
  <dcterms:created xsi:type="dcterms:W3CDTF">2025-12-05T17:34:37Z</dcterms:created>
  <dcterms:modified xsi:type="dcterms:W3CDTF">2025-12-17T20:21:45Z</dcterms:modified>
</cp:coreProperties>
</file>